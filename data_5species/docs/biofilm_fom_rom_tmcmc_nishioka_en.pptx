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presents a free-energy-based FOM for a 5-species biofilm and a ROM+TMCMC framework for Bayesian parameter estimation. We focus on the model structure and algorithm design.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provides an overview of the talk. We start with the FOM structure based on free energy, then introduce biological constraints and parameter reduction, ROM for speed-up, TMCMC for Bayesian estimation, and finally the 4-stage sequential estimation with experimental conditions.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outline the research background and objectives. Oral biofilms involve multiple species whose interactions determine pathogenicity. The key challenge is to quantitatively estimate these interactions from experimental data. Our approach combines FOM, ROM, and TMCMC in three stages.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introduces the five bacterial species and their biological roles. S. oralis and A. naeslundii are early colonizers, Veillonella is a metabolic bridge, F. nucleatum is the bridge organism, and P. gingivalis is the late colonizer (pathogen). The interaction network is based on Heine et al. (2025) Figure 4C. Five active interaction pairs and five absent pairs have been experimentally confirmed. The absent pairs form the basis for our parameter reduction.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the theoretical foundation of the biofilm model by Klempt et al. Starting from the extended Hamilton principle for a local, quasi-static, isothermal system, we define three constitutive functions: energy density Psi, dissipation Delta_s, and constraint c. Nutrients c-star promote growth through the interaction matrix A, while antibiotics alpha-star cause decay through matrix B. The key complexity arises from modelling dissipation via the rate of living bacteria volume phi-bar equals phi times psi, which deeply couples the phi and psi equations.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present the FOM state vector g(t) with 12 components: five species volume fractions, matrix volume fraction, five internal structure variables, and a Lagrange multiplier for volume conservation.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FOM is formulated as a dissipative system driven by free energy F(g). The mobility matrix M encodes the phi-bar coupling, F is the total energy Psi_total, and S captures growth and washout. When S=0, F decreases monotonically, ensuring thermodynamic consistency. We use implicit Euler with Newton's method for stable time integration.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the strong form for phi_i in a single colour-coded equation. Black is the penalty barrier gradient, orange highlights the viscous dissipation terms, green marks the Lagrange multiplier gamma for volume conservation, and blue shows the inter-species interaction via the matrix A. The next slides expand each term in mathematical detail.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shows the residual equation for the volume fraction phi_i. Term 1 is the penalty barrier gradient (ensures xi stays in (0,1)), Term 2 is dissipation (Lagrange multiplier and viscous damping), Term 3 is the inter-species interaction via matrix A with Hadamard product.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show the residual equations for the internal variable psi_i and the volume conservation constraint gamma. The decay rate b_i drives relaxation of the internal variable.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parameter vector theta is organized into 5 blocks (M1 through M5). This block structure directly corresponds to the 4-stage sequential estimation. A is symmetric with 15 independent entries, B is diagonal with 5 entries, totalling 20 parameters.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core of the Nishioka Algorithm. We lock 5 interaction parameters to zero based on absent biological interactions confirmed by Heine et al. (2025). This reduces the effective dimension from 20 to 15, improving sampling efficiency and excluding biologically implausible estimates. The lock set varies by experimental condition, as explained later.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Hill function encodes the biological knowledge that F. nucleatum acts as a bridge organism for P. gingivalis. The effective biomass x_FN gates the 5th row of the interaction matrix 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define the observation model with additive Gaussian noise and the corresponding log-likelihood. The prior is independent uniform on each parameter component.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ROM uses POD-based dimension reduction and time-structured mapping. A key improvement is the adaptive linearization point update during TMCMC: after each stage, we update theta_0 to the current MAP estimate, progressively improving ROM accuracy as the posterior concentrates. ROM error checks determine whether FOM evaluation is needed.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present the full TMCMC algorithm in four steps. The beta schedule is adaptively determined via bisection to maintain ESS at N/2. The proposal covariance uses Gelman et al. optimal scaling 2.38^2/d with tempered scaling and adaptive adjustment based on acceptance rate. K-step MH mutation reduces particle correlation after resampling.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4-stage sequential estimation is a key algorithmic design. Stage 1 estimates early colonizer parameters, Stage 2 bridge organisms, Stage 3 cross-terms plus P. gingivalis self-interaction, Stage 4 P. gingivalis cross-terms. After each stage, MAP estimates are fixed in theta_base. The four experimental conditions vary the lock set: Commensal Static locks 9 parameters, Dysbiotic HOBIC unlocks all 20 to discover the minimal interaction set driving the pathogen surge.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summarize the five main contributions: FOM structure, parameter reduction, ROM with adaptive linearization, TMCMC with adaptive beta and optimal proposal, and 4-stage sequential estimation. The model evidence formula is a natural byproduct of TMCMC, enabling Bayesian model comparison via Bayes factors at no extra cost.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backup slide shows the four-step mathematical correspondence from the Hamilton variational principle to the Newton-based residual solver. Step 1: Hamilton's principle gives the variational form. Step 2: Euler-Lagrange equations yield the strong form. Step 3: Implicit Euler discretisation in time. Step 4: The residual Q=0 is solved by Newton iteration. The colour-coded equation from the earlier slide is the explicit form of Q.</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14.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37.png"/><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41.png"/><Relationship Id="rId6" Type="http://schemas.openxmlformats.org/officeDocument/2006/relationships/image" Target="../media/image42.png"/><Relationship Id="rId7" Type="http://schemas.openxmlformats.org/officeDocument/2006/relationships/image" Target="../media/image43.png"/><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45.png"/><Relationship Id="rId4" Type="http://schemas.openxmlformats.org/officeDocument/2006/relationships/image" Target="../media/image46.png"/><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image" Target="../media/image48.png"/><Relationship Id="rId4" Type="http://schemas.openxmlformats.org/officeDocument/2006/relationships/image" Target="../media/image49.png"/><Relationship Id="rId5" Type="http://schemas.openxmlformats.org/officeDocument/2006/relationships/image" Target="../media/image50.png"/><Relationship Id="rId6" Type="http://schemas.openxmlformats.org/officeDocument/2006/relationships/image" Target="../media/image51.png"/><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image" Target="../media/image57.png"/><Relationship Id="rId6"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6647" y="1371600"/>
            <a:ext cx="10058400" cy="2377440"/>
          </a:xfrm>
          <a:prstGeom prst="rect">
            <a:avLst/>
          </a:prstGeom>
          <a:noFill/>
        </p:spPr>
        <p:txBody>
          <a:bodyPr wrap="square">
            <a:spAutoFit/>
          </a:bodyPr>
          <a:lstStyle/>
          <a:p>
            <a:pPr algn="ctr">
              <a:defRPr sz="3800" b="1">
                <a:solidFill>
                  <a:srgbClr val="FFFFFF"/>
                </a:solidFill>
                <a:latin typeface="Calibri"/>
              </a:defRPr>
            </a:pPr>
            <a:r>
              <a:t>Parameter Estimation for a</a:t>
            </a:r>
          </a:p>
          <a:p>
            <a:pPr algn="ctr">
              <a:defRPr sz="3800" b="1">
                <a:solidFill>
                  <a:srgbClr val="FFFFFF"/>
                </a:solidFill>
                <a:latin typeface="Calibri"/>
              </a:defRPr>
            </a:pPr>
            <a:r>
              <a:t>5-Species Biofilm Model via</a:t>
            </a:r>
          </a:p>
          <a:p>
            <a:pPr algn="ctr">
              <a:defRPr sz="3800" b="1">
                <a:solidFill>
                  <a:srgbClr val="FFFFFF"/>
                </a:solidFill>
                <a:latin typeface="Calibri"/>
              </a:defRPr>
            </a:pPr>
            <a:r>
              <a:t>FOM, ROM, and TMCMC</a:t>
            </a:r>
          </a:p>
        </p:txBody>
      </p:sp>
      <p:sp>
        <p:nvSpPr>
          <p:cNvPr id="4" name="Rectangle 3"/>
          <p:cNvSpPr/>
          <p:nvPr/>
        </p:nvSpPr>
        <p:spPr>
          <a:xfrm>
            <a:off x="3352647" y="3931920"/>
            <a:ext cx="5486400" cy="36576"/>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66647" y="4343400"/>
            <a:ext cx="10058400" cy="1463040"/>
          </a:xfrm>
          <a:prstGeom prst="rect">
            <a:avLst/>
          </a:prstGeom>
          <a:noFill/>
        </p:spPr>
        <p:txBody>
          <a:bodyPr wrap="square">
            <a:spAutoFit/>
          </a:bodyPr>
          <a:lstStyle/>
          <a:p>
            <a:pPr algn="ctr">
              <a:defRPr sz="2600">
                <a:solidFill>
                  <a:srgbClr val="FFFFFF"/>
                </a:solidFill>
                <a:latin typeface="Calibri"/>
              </a:defRPr>
            </a:pPr>
            <a:r>
              <a:t>Keisuke Nishioka</a:t>
            </a:r>
          </a:p>
          <a:p>
            <a:pPr algn="ctr">
              <a:defRPr sz="1600">
                <a:solidFill>
                  <a:srgbClr val="AABBDD"/>
                </a:solidFill>
                <a:latin typeface="Calibri"/>
              </a:defRPr>
            </a:pPr>
            <a:r>
              <a:t>Institute of Continuum Mechanics, Leibniz University Hannover</a:t>
            </a:r>
          </a:p>
          <a:p>
            <a:pPr algn="ctr">
              <a:defRPr sz="1600">
                <a:solidFill>
                  <a:srgbClr val="AABBDD"/>
                </a:solidFill>
                <a:latin typeface="Calibri"/>
              </a:defRPr>
            </a:pPr>
            <a:r>
              <a:t>February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6576"/>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
            <a:ext cx="10728655" cy="685800"/>
          </a:xfrm>
          <a:prstGeom prst="rect">
            <a:avLst/>
          </a:prstGeom>
          <a:noFill/>
        </p:spPr>
        <p:txBody>
          <a:bodyPr wrap="square">
            <a:spAutoFit/>
          </a:bodyPr>
          <a:lstStyle/>
          <a:p>
            <a:pPr>
              <a:defRPr sz="3000" b="1">
                <a:solidFill>
                  <a:srgbClr val="FFFFFF"/>
                </a:solidFill>
                <a:latin typeface="Calibri"/>
              </a:defRPr>
            </a:pPr>
            <a:r>
              <a:t>Outline</a:t>
            </a:r>
          </a:p>
        </p:txBody>
      </p:sp>
      <p:sp>
        <p:nvSpPr>
          <p:cNvPr id="5" name="TextBox 4"/>
          <p:cNvSpPr txBox="1"/>
          <p:nvPr/>
        </p:nvSpPr>
        <p:spPr>
          <a:xfrm>
            <a:off x="11277295" y="6446520"/>
            <a:ext cx="548640" cy="274320"/>
          </a:xfrm>
          <a:prstGeom prst="rect">
            <a:avLst/>
          </a:prstGeom>
          <a:noFill/>
        </p:spPr>
        <p:txBody>
          <a:bodyPr wrap="none">
            <a:spAutoFit/>
          </a:bodyPr>
          <a:lstStyle/>
          <a:p>
            <a:pPr algn="r">
              <a:defRPr sz="1200">
                <a:solidFill>
                  <a:srgbClr val="666666"/>
                </a:solidFill>
                <a:latin typeface="Calibri"/>
              </a:defRPr>
            </a:pPr>
            <a:r>
              <a:t>2</a:t>
            </a:r>
          </a:p>
        </p:txBody>
      </p:sp>
      <p:sp>
        <p:nvSpPr>
          <p:cNvPr id="6" name="TextBox 5"/>
          <p:cNvSpPr txBox="1"/>
          <p:nvPr/>
        </p:nvSpPr>
        <p:spPr>
          <a:xfrm>
            <a:off x="731520" y="1280160"/>
            <a:ext cx="10728655" cy="8636000"/>
          </a:xfrm>
          <a:prstGeom prst="rect">
            <a:avLst/>
          </a:prstGeom>
          <a:noFill/>
        </p:spPr>
        <p:txBody>
          <a:bodyPr wrap="square">
            <a:spAutoFit/>
          </a:bodyPr>
          <a:lstStyle/>
          <a:p>
            <a:pPr>
              <a:spcAft>
                <a:spcPts val="400"/>
              </a:spcAft>
              <a:defRPr sz="2000">
                <a:solidFill>
                  <a:srgbClr val="222222"/>
                </a:solidFill>
                <a:latin typeface="Calibri"/>
              </a:defRPr>
            </a:pPr>
            <a:r>
              <a:t>1.   Background and Objectives</a:t>
            </a:r>
          </a:p>
          <a:p>
            <a:pPr>
              <a:spcAft>
                <a:spcPts val="400"/>
              </a:spcAft>
              <a:defRPr sz="2000">
                <a:solidFill>
                  <a:srgbClr val="222222"/>
                </a:solidFill>
                <a:latin typeface="Calibri"/>
              </a:defRPr>
            </a:pPr>
            <a:r>
              <a:t>2.   5 Species and Interaction Network</a:t>
            </a:r>
          </a:p>
          <a:p>
            <a:pPr>
              <a:spcAft>
                <a:spcPts val="400"/>
              </a:spcAft>
              <a:defRPr sz="2000">
                <a:solidFill>
                  <a:srgbClr val="222222"/>
                </a:solidFill>
                <a:latin typeface="Calibri"/>
              </a:defRPr>
            </a:pPr>
            <a:r>
              <a:t>3.   Application to Biofilm Growth</a:t>
            </a:r>
          </a:p>
          <a:p>
            <a:pPr>
              <a:spcAft>
                <a:spcPts val="400"/>
              </a:spcAft>
              <a:defRPr sz="2000">
                <a:solidFill>
                  <a:srgbClr val="222222"/>
                </a:solidFill>
                <a:latin typeface="Calibri"/>
              </a:defRPr>
            </a:pPr>
            <a:r>
              <a:t>4.   FOM — State Variables and Constraints</a:t>
            </a:r>
          </a:p>
          <a:p>
            <a:pPr>
              <a:spcAft>
                <a:spcPts val="400"/>
              </a:spcAft>
              <a:defRPr sz="2000">
                <a:solidFill>
                  <a:srgbClr val="222222"/>
                </a:solidFill>
                <a:latin typeface="Calibri"/>
              </a:defRPr>
            </a:pPr>
            <a:r>
              <a:t>5.   FOM — Free-Energy-Based Governing Equations</a:t>
            </a:r>
          </a:p>
          <a:p>
            <a:pPr>
              <a:spcAft>
                <a:spcPts val="400"/>
              </a:spcAft>
              <a:defRPr sz="2000">
                <a:solidFill>
                  <a:srgbClr val="222222"/>
                </a:solidFill>
                <a:latin typeface="Calibri"/>
              </a:defRPr>
            </a:pPr>
            <a:r>
              <a:t>6.   FOM — Strong Form Structure (Overview)</a:t>
            </a:r>
          </a:p>
          <a:p>
            <a:pPr>
              <a:spcAft>
                <a:spcPts val="400"/>
              </a:spcAft>
              <a:defRPr sz="2000">
                <a:solidFill>
                  <a:srgbClr val="222222"/>
                </a:solidFill>
                <a:latin typeface="Calibri"/>
              </a:defRPr>
            </a:pPr>
            <a:r>
              <a:t>7.   FOM — Residual Equations (φᵢ)</a:t>
            </a:r>
          </a:p>
          <a:p>
            <a:pPr>
              <a:spcAft>
                <a:spcPts val="400"/>
              </a:spcAft>
              <a:defRPr sz="2000">
                <a:solidFill>
                  <a:srgbClr val="222222"/>
                </a:solidFill>
                <a:latin typeface="Calibri"/>
              </a:defRPr>
            </a:pPr>
            <a:r>
              <a:t>8.   FOM — Residual Equations (ψᵢ, γ)</a:t>
            </a:r>
          </a:p>
          <a:p>
            <a:pPr>
              <a:spcAft>
                <a:spcPts val="400"/>
              </a:spcAft>
              <a:defRPr sz="2000">
                <a:solidFill>
                  <a:srgbClr val="222222"/>
                </a:solidFill>
                <a:latin typeface="Calibri"/>
              </a:defRPr>
            </a:pPr>
            <a:r>
              <a:t>9.   Parameters — Interaction Matrix A and Decay Matrix B</a:t>
            </a:r>
          </a:p>
          <a:p>
            <a:pPr>
              <a:spcAft>
                <a:spcPts val="400"/>
              </a:spcAft>
              <a:defRPr sz="2000">
                <a:solidFill>
                  <a:srgbClr val="222222"/>
                </a:solidFill>
                <a:latin typeface="Calibri"/>
              </a:defRPr>
            </a:pPr>
            <a:r>
              <a:t>10.  Biological Constraints and Parameter Reduction</a:t>
            </a:r>
          </a:p>
          <a:p>
            <a:pPr>
              <a:spcAft>
                <a:spcPts val="400"/>
              </a:spcAft>
              <a:defRPr sz="2000">
                <a:solidFill>
                  <a:srgbClr val="222222"/>
                </a:solidFill>
                <a:latin typeface="Calibri"/>
              </a:defRPr>
            </a:pPr>
            <a:r>
              <a:t>11.  Hill-Function Gating Mechanism</a:t>
            </a:r>
          </a:p>
          <a:p>
            <a:pPr>
              <a:spcAft>
                <a:spcPts val="400"/>
              </a:spcAft>
              <a:defRPr sz="2000">
                <a:solidFill>
                  <a:srgbClr val="222222"/>
                </a:solidFill>
                <a:latin typeface="Calibri"/>
              </a:defRPr>
            </a:pPr>
            <a:r>
              <a:t>12.  Observation Model and Likelihood</a:t>
            </a:r>
          </a:p>
          <a:p>
            <a:pPr>
              <a:spcAft>
                <a:spcPts val="400"/>
              </a:spcAft>
              <a:defRPr sz="2000">
                <a:solidFill>
                  <a:srgbClr val="222222"/>
                </a:solidFill>
                <a:latin typeface="Calibri"/>
              </a:defRPr>
            </a:pPr>
            <a:r>
              <a:t>13.  ROM — TSM with Linearization Update</a:t>
            </a:r>
          </a:p>
          <a:p>
            <a:pPr>
              <a:spcAft>
                <a:spcPts val="400"/>
              </a:spcAft>
              <a:defRPr sz="2000">
                <a:solidFill>
                  <a:srgbClr val="222222"/>
                </a:solidFill>
                <a:latin typeface="Calibri"/>
              </a:defRPr>
            </a:pPr>
            <a:r>
              <a:t>14.  TMCMC — Algorithm Details</a:t>
            </a:r>
          </a:p>
          <a:p>
            <a:pPr>
              <a:spcAft>
                <a:spcPts val="400"/>
              </a:spcAft>
              <a:defRPr sz="2000">
                <a:solidFill>
                  <a:srgbClr val="222222"/>
                </a:solidFill>
                <a:latin typeface="Calibri"/>
              </a:defRPr>
            </a:pPr>
            <a:r>
              <a:t>15.  4-Stage Sequential Estimation and Experimental Conditions</a:t>
            </a:r>
          </a:p>
          <a:p>
            <a:pPr>
              <a:spcAft>
                <a:spcPts val="400"/>
              </a:spcAft>
              <a:defRPr sz="2000">
                <a:solidFill>
                  <a:srgbClr val="222222"/>
                </a:solidFill>
                <a:latin typeface="Calibri"/>
              </a:defRPr>
            </a:pPr>
            <a:r>
              <a:t>16.  Summary and Outlook</a:t>
            </a:r>
          </a:p>
          <a:p>
            <a:pPr>
              <a:spcAft>
                <a:spcPts val="400"/>
              </a:spcAft>
              <a:defRPr sz="2000">
                <a:solidFill>
                  <a:srgbClr val="222222"/>
                </a:solidFill>
                <a:latin typeface="Calibri"/>
              </a:defRPr>
            </a:pPr>
            <a:r>
              <a:t>Backup:  From Hamilton Principle to Implementation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6576"/>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
            <a:ext cx="10728655" cy="685800"/>
          </a:xfrm>
          <a:prstGeom prst="rect">
            <a:avLst/>
          </a:prstGeom>
          <a:noFill/>
        </p:spPr>
        <p:txBody>
          <a:bodyPr wrap="square">
            <a:spAutoFit/>
          </a:bodyPr>
          <a:lstStyle/>
          <a:p>
            <a:pPr>
              <a:defRPr sz="3000" b="1">
                <a:solidFill>
                  <a:srgbClr val="FFFFFF"/>
                </a:solidFill>
                <a:latin typeface="Calibri"/>
              </a:defRPr>
            </a:pPr>
            <a:r>
              <a:t>Background and Objectives</a:t>
            </a:r>
          </a:p>
        </p:txBody>
      </p:sp>
      <p:sp>
        <p:nvSpPr>
          <p:cNvPr id="5" name="TextBox 4"/>
          <p:cNvSpPr txBox="1"/>
          <p:nvPr/>
        </p:nvSpPr>
        <p:spPr>
          <a:xfrm>
            <a:off x="11277295" y="6446520"/>
            <a:ext cx="548640" cy="274320"/>
          </a:xfrm>
          <a:prstGeom prst="rect">
            <a:avLst/>
          </a:prstGeom>
          <a:noFill/>
        </p:spPr>
        <p:txBody>
          <a:bodyPr wrap="none">
            <a:spAutoFit/>
          </a:bodyPr>
          <a:lstStyle/>
          <a:p>
            <a:pPr algn="r">
              <a:defRPr sz="1200">
                <a:solidFill>
                  <a:srgbClr val="666666"/>
                </a:solidFill>
                <a:latin typeface="Calibri"/>
              </a:defRPr>
            </a:pPr>
            <a:r>
              <a:t>3</a:t>
            </a:r>
          </a:p>
        </p:txBody>
      </p:sp>
      <p:sp>
        <p:nvSpPr>
          <p:cNvPr id="6" name="TextBox 5"/>
          <p:cNvSpPr txBox="1"/>
          <p:nvPr/>
        </p:nvSpPr>
        <p:spPr>
          <a:xfrm>
            <a:off x="731520" y="1280160"/>
            <a:ext cx="10728655" cy="502920"/>
          </a:xfrm>
          <a:prstGeom prst="rect">
            <a:avLst/>
          </a:prstGeom>
          <a:noFill/>
        </p:spPr>
        <p:txBody>
          <a:bodyPr wrap="square">
            <a:spAutoFit/>
          </a:bodyPr>
          <a:lstStyle/>
          <a:p>
            <a:pPr algn="l">
              <a:defRPr sz="2200" b="1">
                <a:solidFill>
                  <a:srgbClr val="0072CE"/>
                </a:solidFill>
                <a:latin typeface="Calibri"/>
              </a:defRPr>
            </a:pPr>
            <a:r>
              <a:t>Background</a:t>
            </a:r>
          </a:p>
        </p:txBody>
      </p:sp>
      <p:sp>
        <p:nvSpPr>
          <p:cNvPr id="7" name="TextBox 6"/>
          <p:cNvSpPr txBox="1"/>
          <p:nvPr/>
        </p:nvSpPr>
        <p:spPr>
          <a:xfrm>
            <a:off x="731520" y="1828800"/>
            <a:ext cx="10728655" cy="1371600"/>
          </a:xfrm>
          <a:prstGeom prst="rect">
            <a:avLst/>
          </a:prstGeom>
          <a:noFill/>
        </p:spPr>
        <p:txBody>
          <a:bodyPr wrap="square">
            <a:spAutoFit/>
          </a:bodyPr>
          <a:lstStyle/>
          <a:p>
            <a:pPr>
              <a:spcAft>
                <a:spcPts val="400"/>
              </a:spcAft>
              <a:defRPr sz="1800">
                <a:solidFill>
                  <a:srgbClr val="222222"/>
                </a:solidFill>
                <a:latin typeface="Calibri"/>
              </a:defRPr>
            </a:pPr>
            <a:r>
              <a:t>Oral biofilms are complex microbial communities with multiple co-existing species.</a:t>
            </a:r>
          </a:p>
          <a:p>
            <a:pPr>
              <a:spcAft>
                <a:spcPts val="400"/>
              </a:spcAft>
              <a:defRPr sz="1800">
                <a:solidFill>
                  <a:srgbClr val="222222"/>
                </a:solidFill>
                <a:latin typeface="Calibri"/>
              </a:defRPr>
            </a:pPr>
            <a:r>
              <a:t>Inter-species interactions (cooperation / competition) govern biofilm structure and pathogenicity.</a:t>
            </a:r>
          </a:p>
          <a:p>
            <a:pPr>
              <a:spcAft>
                <a:spcPts val="400"/>
              </a:spcAft>
              <a:defRPr sz="1800">
                <a:solidFill>
                  <a:srgbClr val="222222"/>
                </a:solidFill>
                <a:latin typeface="Calibri"/>
              </a:defRPr>
            </a:pPr>
            <a:r>
              <a:t>Quantitative estimation of these interactions from experimental data is key to clinical applications.</a:t>
            </a:r>
          </a:p>
        </p:txBody>
      </p:sp>
      <p:sp>
        <p:nvSpPr>
          <p:cNvPr id="8" name="TextBox 7"/>
          <p:cNvSpPr txBox="1"/>
          <p:nvPr/>
        </p:nvSpPr>
        <p:spPr>
          <a:xfrm>
            <a:off x="731520" y="3337560"/>
            <a:ext cx="10728655" cy="502920"/>
          </a:xfrm>
          <a:prstGeom prst="rect">
            <a:avLst/>
          </a:prstGeom>
          <a:noFill/>
        </p:spPr>
        <p:txBody>
          <a:bodyPr wrap="square">
            <a:spAutoFit/>
          </a:bodyPr>
          <a:lstStyle/>
          <a:p>
            <a:pPr algn="l">
              <a:defRPr sz="2200" b="1">
                <a:solidFill>
                  <a:srgbClr val="0072CE"/>
                </a:solidFill>
                <a:latin typeface="Calibri"/>
              </a:defRPr>
            </a:pPr>
            <a:r>
              <a:t>Objectives</a:t>
            </a:r>
          </a:p>
        </p:txBody>
      </p:sp>
      <p:sp>
        <p:nvSpPr>
          <p:cNvPr id="9" name="TextBox 8"/>
          <p:cNvSpPr txBox="1"/>
          <p:nvPr/>
        </p:nvSpPr>
        <p:spPr>
          <a:xfrm>
            <a:off x="731520" y="3886200"/>
            <a:ext cx="10728655" cy="1371600"/>
          </a:xfrm>
          <a:prstGeom prst="rect">
            <a:avLst/>
          </a:prstGeom>
          <a:noFill/>
        </p:spPr>
        <p:txBody>
          <a:bodyPr wrap="square">
            <a:spAutoFit/>
          </a:bodyPr>
          <a:lstStyle/>
          <a:p>
            <a:pPr>
              <a:spcAft>
                <a:spcPts val="400"/>
              </a:spcAft>
              <a:defRPr sz="1800">
                <a:solidFill>
                  <a:srgbClr val="222222"/>
                </a:solidFill>
                <a:latin typeface="Calibri"/>
              </a:defRPr>
            </a:pPr>
            <a:r>
              <a:t>Construct a free-energy-based full-order model (FOM) for 5-species biofilm dynamics.</a:t>
            </a:r>
          </a:p>
          <a:p>
            <a:pPr>
              <a:spcAft>
                <a:spcPts val="400"/>
              </a:spcAft>
              <a:defRPr sz="1800">
                <a:solidFill>
                  <a:srgbClr val="222222"/>
                </a:solidFill>
                <a:latin typeface="Calibri"/>
              </a:defRPr>
            </a:pPr>
            <a:r>
              <a:t>Combine ROM speed-up with TMCMC Bayesian estimation to infer the</a:t>
            </a:r>
          </a:p>
          <a:p>
            <a:pPr>
              <a:spcAft>
                <a:spcPts val="400"/>
              </a:spcAft>
              <a:defRPr sz="1800">
                <a:solidFill>
                  <a:srgbClr val="222222"/>
                </a:solidFill>
                <a:latin typeface="Calibri"/>
              </a:defRPr>
            </a:pPr>
            <a:r>
              <a:t>inter-species interaction parameter θ from experimental data in a probabilistic framework.</a:t>
            </a:r>
          </a:p>
        </p:txBody>
      </p:sp>
      <p:sp>
        <p:nvSpPr>
          <p:cNvPr id="10" name="TextBox 9"/>
          <p:cNvSpPr txBox="1"/>
          <p:nvPr/>
        </p:nvSpPr>
        <p:spPr>
          <a:xfrm>
            <a:off x="731520" y="5394960"/>
            <a:ext cx="10728655" cy="502920"/>
          </a:xfrm>
          <a:prstGeom prst="rect">
            <a:avLst/>
          </a:prstGeom>
          <a:noFill/>
        </p:spPr>
        <p:txBody>
          <a:bodyPr wrap="square">
            <a:spAutoFit/>
          </a:bodyPr>
          <a:lstStyle/>
          <a:p>
            <a:pPr algn="l">
              <a:defRPr sz="2200" b="1">
                <a:solidFill>
                  <a:srgbClr val="0072CE"/>
                </a:solidFill>
                <a:latin typeface="Calibri"/>
              </a:defRPr>
            </a:pPr>
            <a:r>
              <a:t>Approach (3 stages)</a:t>
            </a:r>
          </a:p>
        </p:txBody>
      </p:sp>
      <p:sp>
        <p:nvSpPr>
          <p:cNvPr id="11" name="TextBox 10"/>
          <p:cNvSpPr txBox="1"/>
          <p:nvPr/>
        </p:nvSpPr>
        <p:spPr>
          <a:xfrm>
            <a:off x="731520" y="5943600"/>
            <a:ext cx="10728655" cy="1371600"/>
          </a:xfrm>
          <a:prstGeom prst="rect">
            <a:avLst/>
          </a:prstGeom>
          <a:noFill/>
        </p:spPr>
        <p:txBody>
          <a:bodyPr wrap="square">
            <a:spAutoFit/>
          </a:bodyPr>
          <a:lstStyle/>
          <a:p>
            <a:pPr>
              <a:spcAft>
                <a:spcPts val="400"/>
              </a:spcAft>
              <a:defRPr sz="1800">
                <a:solidFill>
                  <a:srgbClr val="222222"/>
                </a:solidFill>
                <a:latin typeface="Calibri"/>
              </a:defRPr>
            </a:pPr>
            <a:r>
              <a:t>1.  FOM: nonlinear dissipative dynamics based on free energy → accurate but expensive</a:t>
            </a:r>
          </a:p>
          <a:p>
            <a:pPr>
              <a:spcAft>
                <a:spcPts val="400"/>
              </a:spcAft>
              <a:defRPr sz="1800">
                <a:solidFill>
                  <a:srgbClr val="222222"/>
                </a:solidFill>
                <a:latin typeface="Calibri"/>
              </a:defRPr>
            </a:pPr>
            <a:r>
              <a:t>2.  ROM: low-dimensional approximation of FOM → fast forward evaluation</a:t>
            </a:r>
          </a:p>
          <a:p>
            <a:pPr>
              <a:spcAft>
                <a:spcPts val="400"/>
              </a:spcAft>
              <a:defRPr sz="1800">
                <a:solidFill>
                  <a:srgbClr val="222222"/>
                </a:solidFill>
                <a:latin typeface="Calibri"/>
              </a:defRPr>
            </a:pPr>
            <a:r>
              <a:t>3.  TMCMC: fast likelihood via ROM → sample the posterior p(θ|y)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6576"/>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
            <a:ext cx="10728655" cy="685800"/>
          </a:xfrm>
          <a:prstGeom prst="rect">
            <a:avLst/>
          </a:prstGeom>
          <a:noFill/>
        </p:spPr>
        <p:txBody>
          <a:bodyPr wrap="square">
            <a:spAutoFit/>
          </a:bodyPr>
          <a:lstStyle/>
          <a:p>
            <a:pPr>
              <a:defRPr sz="3000" b="1">
                <a:solidFill>
                  <a:srgbClr val="FFFFFF"/>
                </a:solidFill>
                <a:latin typeface="Calibri"/>
              </a:defRPr>
            </a:pPr>
            <a:r>
              <a:t>5 Species and Interaction Network</a:t>
            </a:r>
          </a:p>
        </p:txBody>
      </p:sp>
      <p:sp>
        <p:nvSpPr>
          <p:cNvPr id="5" name="TextBox 4"/>
          <p:cNvSpPr txBox="1"/>
          <p:nvPr/>
        </p:nvSpPr>
        <p:spPr>
          <a:xfrm>
            <a:off x="11277295" y="6446520"/>
            <a:ext cx="548640" cy="274320"/>
          </a:xfrm>
          <a:prstGeom prst="rect">
            <a:avLst/>
          </a:prstGeom>
          <a:noFill/>
        </p:spPr>
        <p:txBody>
          <a:bodyPr wrap="none">
            <a:spAutoFit/>
          </a:bodyPr>
          <a:lstStyle/>
          <a:p>
            <a:pPr algn="r">
              <a:defRPr sz="1200">
                <a:solidFill>
                  <a:srgbClr val="666666"/>
                </a:solidFill>
                <a:latin typeface="Calibri"/>
              </a:defRPr>
            </a:pPr>
            <a:r>
              <a:t>4</a:t>
            </a:r>
          </a:p>
        </p:txBody>
      </p:sp>
      <p:sp>
        <p:nvSpPr>
          <p:cNvPr id="6" name="TextBox 5"/>
          <p:cNvSpPr txBox="1"/>
          <p:nvPr/>
        </p:nvSpPr>
        <p:spPr>
          <a:xfrm>
            <a:off x="731520" y="1280160"/>
            <a:ext cx="10728655" cy="502920"/>
          </a:xfrm>
          <a:prstGeom prst="rect">
            <a:avLst/>
          </a:prstGeom>
          <a:noFill/>
        </p:spPr>
        <p:txBody>
          <a:bodyPr wrap="square">
            <a:spAutoFit/>
          </a:bodyPr>
          <a:lstStyle/>
          <a:p>
            <a:pPr algn="l">
              <a:defRPr sz="2200" b="1">
                <a:solidFill>
                  <a:srgbClr val="0072CE"/>
                </a:solidFill>
                <a:latin typeface="Calibri"/>
              </a:defRPr>
            </a:pPr>
            <a:r>
              <a:t>Species (Heine et al., 2025)</a:t>
            </a:r>
          </a:p>
        </p:txBody>
      </p:sp>
      <p:sp>
        <p:nvSpPr>
          <p:cNvPr id="7" name="TextBox 6"/>
          <p:cNvSpPr txBox="1"/>
          <p:nvPr/>
        </p:nvSpPr>
        <p:spPr>
          <a:xfrm>
            <a:off x="731520" y="1828800"/>
            <a:ext cx="10728655" cy="2286000"/>
          </a:xfrm>
          <a:prstGeom prst="rect">
            <a:avLst/>
          </a:prstGeom>
          <a:noFill/>
        </p:spPr>
        <p:txBody>
          <a:bodyPr wrap="square">
            <a:spAutoFit/>
          </a:bodyPr>
          <a:lstStyle/>
          <a:p>
            <a:pPr>
              <a:spcAft>
                <a:spcPts val="400"/>
              </a:spcAft>
              <a:defRPr sz="1800">
                <a:solidFill>
                  <a:srgbClr val="222222"/>
                </a:solidFill>
                <a:latin typeface="Calibri"/>
              </a:defRPr>
            </a:pPr>
            <a:r>
              <a:t>1.  S. oralis  — early colonizer</a:t>
            </a:r>
          </a:p>
          <a:p>
            <a:pPr>
              <a:spcAft>
                <a:spcPts val="400"/>
              </a:spcAft>
              <a:defRPr sz="1800">
                <a:solidFill>
                  <a:srgbClr val="222222"/>
                </a:solidFill>
                <a:latin typeface="Calibri"/>
              </a:defRPr>
            </a:pPr>
            <a:r>
              <a:t>2.  A. naeslundii  — early colonizer</a:t>
            </a:r>
          </a:p>
          <a:p>
            <a:pPr>
              <a:spcAft>
                <a:spcPts val="400"/>
              </a:spcAft>
              <a:defRPr sz="1800">
                <a:solidFill>
                  <a:srgbClr val="222222"/>
                </a:solidFill>
                <a:latin typeface="Calibri"/>
              </a:defRPr>
            </a:pPr>
            <a:r>
              <a:t>3.  Veillonella spp.  — metabolic bridge (lactate consumer)</a:t>
            </a:r>
          </a:p>
          <a:p>
            <a:pPr>
              <a:spcAft>
                <a:spcPts val="400"/>
              </a:spcAft>
              <a:defRPr sz="1800">
                <a:solidFill>
                  <a:srgbClr val="222222"/>
                </a:solidFill>
                <a:latin typeface="Calibri"/>
              </a:defRPr>
            </a:pPr>
            <a:r>
              <a:t>4.  F. nucleatum  — bridge organism</a:t>
            </a:r>
          </a:p>
          <a:p>
            <a:pPr>
              <a:spcAft>
                <a:spcPts val="400"/>
              </a:spcAft>
              <a:defRPr sz="1800">
                <a:solidFill>
                  <a:srgbClr val="222222"/>
                </a:solidFill>
                <a:latin typeface="Calibri"/>
              </a:defRPr>
            </a:pPr>
            <a:r>
              <a:t>5.  P. gingivalis  — late colonizer (periodontal pathogen)</a:t>
            </a:r>
          </a:p>
        </p:txBody>
      </p:sp>
      <p:sp>
        <p:nvSpPr>
          <p:cNvPr id="8" name="TextBox 7"/>
          <p:cNvSpPr txBox="1"/>
          <p:nvPr/>
        </p:nvSpPr>
        <p:spPr>
          <a:xfrm>
            <a:off x="731520" y="4251960"/>
            <a:ext cx="10728655" cy="502920"/>
          </a:xfrm>
          <a:prstGeom prst="rect">
            <a:avLst/>
          </a:prstGeom>
          <a:noFill/>
        </p:spPr>
        <p:txBody>
          <a:bodyPr wrap="square">
            <a:spAutoFit/>
          </a:bodyPr>
          <a:lstStyle/>
          <a:p>
            <a:pPr algn="l">
              <a:defRPr sz="2200" b="1">
                <a:solidFill>
                  <a:srgbClr val="0072CE"/>
                </a:solidFill>
                <a:latin typeface="Calibri"/>
              </a:defRPr>
            </a:pPr>
            <a:r>
              <a:t>Interaction network (Figure 4C)</a:t>
            </a:r>
          </a:p>
        </p:txBody>
      </p:sp>
      <p:sp>
        <p:nvSpPr>
          <p:cNvPr id="9" name="TextBox 8"/>
          <p:cNvSpPr txBox="1"/>
          <p:nvPr/>
        </p:nvSpPr>
        <p:spPr>
          <a:xfrm>
            <a:off x="731520" y="4800600"/>
            <a:ext cx="10728655" cy="2159000"/>
          </a:xfrm>
          <a:prstGeom prst="rect">
            <a:avLst/>
          </a:prstGeom>
          <a:noFill/>
        </p:spPr>
        <p:txBody>
          <a:bodyPr wrap="square">
            <a:spAutoFit/>
          </a:bodyPr>
          <a:lstStyle/>
          <a:p>
            <a:pPr>
              <a:spcAft>
                <a:spcPts val="400"/>
              </a:spcAft>
              <a:defRPr sz="1700">
                <a:solidFill>
                  <a:srgbClr val="222222"/>
                </a:solidFill>
                <a:latin typeface="Calibri"/>
              </a:defRPr>
            </a:pPr>
            <a:r>
              <a:t>S.o ↔ A.n:  co-aggregation</a:t>
            </a:r>
          </a:p>
          <a:p>
            <a:pPr>
              <a:spcAft>
                <a:spcPts val="400"/>
              </a:spcAft>
              <a:defRPr sz="1700">
                <a:solidFill>
                  <a:srgbClr val="222222"/>
                </a:solidFill>
                <a:latin typeface="Calibri"/>
              </a:defRPr>
            </a:pPr>
            <a:r>
              <a:t>S.o ↔ Vei:   lactate production / consumption (lactate handover)</a:t>
            </a:r>
          </a:p>
          <a:p>
            <a:pPr>
              <a:spcAft>
                <a:spcPts val="400"/>
              </a:spcAft>
              <a:defRPr sz="1700">
                <a:solidFill>
                  <a:srgbClr val="222222"/>
                </a:solidFill>
                <a:latin typeface="Calibri"/>
              </a:defRPr>
            </a:pPr>
            <a:r>
              <a:t>S.o ↔ F.n:   formate / acetate symbiosis</a:t>
            </a:r>
          </a:p>
          <a:p>
            <a:pPr>
              <a:spcAft>
                <a:spcPts val="400"/>
              </a:spcAft>
              <a:defRPr sz="1700">
                <a:solidFill>
                  <a:srgbClr val="222222"/>
                </a:solidFill>
                <a:latin typeface="Calibri"/>
              </a:defRPr>
            </a:pPr>
            <a:r>
              <a:t>Vei ↔ P.g:    pH rise support</a:t>
            </a:r>
          </a:p>
          <a:p>
            <a:pPr>
              <a:spcAft>
                <a:spcPts val="400"/>
              </a:spcAft>
              <a:defRPr sz="1700">
                <a:solidFill>
                  <a:srgbClr val="222222"/>
                </a:solidFill>
                <a:latin typeface="Calibri"/>
              </a:defRPr>
            </a:pPr>
            <a:r>
              <a:t>F.n ↔ P.g:    co-aggregation and peptide supply</a:t>
            </a:r>
          </a:p>
        </p:txBody>
      </p:sp>
      <p:sp>
        <p:nvSpPr>
          <p:cNvPr id="10" name="TextBox 9"/>
          <p:cNvSpPr txBox="1"/>
          <p:nvPr/>
        </p:nvSpPr>
        <p:spPr>
          <a:xfrm>
            <a:off x="731520" y="7051040"/>
            <a:ext cx="10728655" cy="388620"/>
          </a:xfrm>
          <a:prstGeom prst="rect">
            <a:avLst/>
          </a:prstGeom>
          <a:noFill/>
        </p:spPr>
        <p:txBody>
          <a:bodyPr wrap="square">
            <a:spAutoFit/>
          </a:bodyPr>
          <a:lstStyle/>
          <a:p>
            <a:pPr algn="l">
              <a:defRPr sz="1700" b="1">
                <a:solidFill>
                  <a:srgbClr val="CC3333"/>
                </a:solidFill>
                <a:latin typeface="Calibri"/>
              </a:defRPr>
            </a:pPr>
            <a:r>
              <a:t>5 species pairs with no observed interaction → locked to zero (parameter reduction)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6576"/>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
            <a:ext cx="10728655" cy="685800"/>
          </a:xfrm>
          <a:prstGeom prst="rect">
            <a:avLst/>
          </a:prstGeom>
          <a:noFill/>
        </p:spPr>
        <p:txBody>
          <a:bodyPr wrap="square">
            <a:spAutoFit/>
          </a:bodyPr>
          <a:lstStyle/>
          <a:p>
            <a:pPr>
              <a:defRPr sz="3000" b="1">
                <a:solidFill>
                  <a:srgbClr val="FFFFFF"/>
                </a:solidFill>
                <a:latin typeface="Calibri"/>
              </a:defRPr>
            </a:pPr>
            <a:r>
              <a:t>Application to Biofilm Growth</a:t>
            </a:r>
          </a:p>
        </p:txBody>
      </p:sp>
      <p:sp>
        <p:nvSpPr>
          <p:cNvPr id="5" name="TextBox 4"/>
          <p:cNvSpPr txBox="1"/>
          <p:nvPr/>
        </p:nvSpPr>
        <p:spPr>
          <a:xfrm>
            <a:off x="11277295" y="6446520"/>
            <a:ext cx="548640" cy="274320"/>
          </a:xfrm>
          <a:prstGeom prst="rect">
            <a:avLst/>
          </a:prstGeom>
          <a:noFill/>
        </p:spPr>
        <p:txBody>
          <a:bodyPr wrap="none">
            <a:spAutoFit/>
          </a:bodyPr>
          <a:lstStyle/>
          <a:p>
            <a:pPr algn="r">
              <a:defRPr sz="1200">
                <a:solidFill>
                  <a:srgbClr val="666666"/>
                </a:solidFill>
                <a:latin typeface="Calibri"/>
              </a:defRPr>
            </a:pPr>
            <a:r>
              <a:t>5</a:t>
            </a:r>
          </a:p>
        </p:txBody>
      </p:sp>
      <p:sp>
        <p:nvSpPr>
          <p:cNvPr id="6" name="TextBox 5"/>
          <p:cNvSpPr txBox="1"/>
          <p:nvPr/>
        </p:nvSpPr>
        <p:spPr>
          <a:xfrm>
            <a:off x="731520" y="1280160"/>
            <a:ext cx="10728655" cy="411480"/>
          </a:xfrm>
          <a:prstGeom prst="rect">
            <a:avLst/>
          </a:prstGeom>
          <a:noFill/>
        </p:spPr>
        <p:txBody>
          <a:bodyPr wrap="square">
            <a:spAutoFit/>
          </a:bodyPr>
          <a:lstStyle/>
          <a:p>
            <a:pPr algn="l">
              <a:defRPr sz="1800" b="0">
                <a:solidFill>
                  <a:srgbClr val="222222"/>
                </a:solidFill>
                <a:latin typeface="Calibri"/>
              </a:defRPr>
            </a:pPr>
            <a:r>
              <a:t>Biofilm model based on the extended Hamilton principle (Klempt et al.):</a:t>
            </a:r>
          </a:p>
        </p:txBody>
      </p:sp>
      <p:sp>
        <p:nvSpPr>
          <p:cNvPr id="7" name="TextBox 6"/>
          <p:cNvSpPr txBox="1"/>
          <p:nvPr/>
        </p:nvSpPr>
        <p:spPr>
          <a:xfrm>
            <a:off x="731520" y="1764792"/>
            <a:ext cx="10728655" cy="502920"/>
          </a:xfrm>
          <a:prstGeom prst="rect">
            <a:avLst/>
          </a:prstGeom>
          <a:noFill/>
        </p:spPr>
        <p:txBody>
          <a:bodyPr wrap="square">
            <a:spAutoFit/>
          </a:bodyPr>
          <a:lstStyle/>
          <a:p>
            <a:pPr algn="l">
              <a:defRPr sz="2200" b="1">
                <a:solidFill>
                  <a:srgbClr val="0072CE"/>
                </a:solidFill>
                <a:latin typeface="Calibri"/>
              </a:defRPr>
            </a:pPr>
            <a:r>
              <a:t>Extended Hamilton principle (local, quasi-static, isothermal)</a:t>
            </a:r>
          </a:p>
        </p:txBody>
      </p:sp>
      <p:pic>
        <p:nvPicPr>
          <p:cNvPr id="8" name="Picture 7" descr="eq_33bd88aecd13.png"/>
          <p:cNvPicPr>
            <a:picLocks noChangeAspect="1"/>
          </p:cNvPicPr>
          <p:nvPr/>
        </p:nvPicPr>
        <p:blipFill>
          <a:blip r:embed="rId2"/>
          <a:stretch>
            <a:fillRect/>
          </a:stretch>
        </p:blipFill>
        <p:spPr>
          <a:xfrm>
            <a:off x="4768443" y="2313432"/>
            <a:ext cx="2654808" cy="792480"/>
          </a:xfrm>
          <a:prstGeom prst="rect">
            <a:avLst/>
          </a:prstGeom>
        </p:spPr>
      </p:pic>
      <p:pic>
        <p:nvPicPr>
          <p:cNvPr id="9" name="Picture 8" descr="eq_cba3f1509458.png"/>
          <p:cNvPicPr>
            <a:picLocks noChangeAspect="1"/>
          </p:cNvPicPr>
          <p:nvPr/>
        </p:nvPicPr>
        <p:blipFill>
          <a:blip r:embed="rId3"/>
          <a:stretch>
            <a:fillRect/>
          </a:stretch>
        </p:blipFill>
        <p:spPr>
          <a:xfrm>
            <a:off x="3451707" y="3151632"/>
            <a:ext cx="5288280" cy="679704"/>
          </a:xfrm>
          <a:prstGeom prst="rect">
            <a:avLst/>
          </a:prstGeom>
        </p:spPr>
      </p:pic>
      <p:sp>
        <p:nvSpPr>
          <p:cNvPr id="10" name="TextBox 9"/>
          <p:cNvSpPr txBox="1"/>
          <p:nvPr/>
        </p:nvSpPr>
        <p:spPr>
          <a:xfrm>
            <a:off x="731520" y="3922776"/>
            <a:ext cx="10728655" cy="502920"/>
          </a:xfrm>
          <a:prstGeom prst="rect">
            <a:avLst/>
          </a:prstGeom>
          <a:noFill/>
        </p:spPr>
        <p:txBody>
          <a:bodyPr wrap="square">
            <a:spAutoFit/>
          </a:bodyPr>
          <a:lstStyle/>
          <a:p>
            <a:pPr algn="l">
              <a:defRPr sz="2200" b="1">
                <a:solidFill>
                  <a:srgbClr val="0072CE"/>
                </a:solidFill>
                <a:latin typeface="Calibri"/>
              </a:defRPr>
            </a:pPr>
            <a:r>
              <a:t>Energy density function Ψ  (eq.13)</a:t>
            </a:r>
          </a:p>
        </p:txBody>
      </p:sp>
      <p:pic>
        <p:nvPicPr>
          <p:cNvPr id="11" name="Picture 10" descr="eq_361e51f3be87.png"/>
          <p:cNvPicPr>
            <a:picLocks noChangeAspect="1"/>
          </p:cNvPicPr>
          <p:nvPr/>
        </p:nvPicPr>
        <p:blipFill>
          <a:blip r:embed="rId4"/>
          <a:stretch>
            <a:fillRect/>
          </a:stretch>
        </p:blipFill>
        <p:spPr>
          <a:xfrm>
            <a:off x="3913479" y="4471416"/>
            <a:ext cx="4364736" cy="630936"/>
          </a:xfrm>
          <a:prstGeom prst="rect">
            <a:avLst/>
          </a:prstGeom>
        </p:spPr>
      </p:pic>
      <p:sp>
        <p:nvSpPr>
          <p:cNvPr id="12" name="TextBox 11"/>
          <p:cNvSpPr txBox="1"/>
          <p:nvPr/>
        </p:nvSpPr>
        <p:spPr>
          <a:xfrm>
            <a:off x="731520" y="5148072"/>
            <a:ext cx="10728655" cy="812800"/>
          </a:xfrm>
          <a:prstGeom prst="rect">
            <a:avLst/>
          </a:prstGeom>
          <a:noFill/>
        </p:spPr>
        <p:txBody>
          <a:bodyPr wrap="square">
            <a:spAutoFit/>
          </a:bodyPr>
          <a:lstStyle/>
          <a:p>
            <a:pPr>
              <a:spcAft>
                <a:spcPts val="400"/>
              </a:spcAft>
              <a:defRPr sz="1600">
                <a:solidFill>
                  <a:srgbClr val="222222"/>
                </a:solidFill>
                <a:latin typeface="Calibri"/>
              </a:defRPr>
            </a:pPr>
            <a:r>
              <a:t>Term 1:  nutrients c* promote living bacteria growth — matrix A describes coupling</a:t>
            </a:r>
          </a:p>
          <a:p>
            <a:pPr>
              <a:spcAft>
                <a:spcPts val="400"/>
              </a:spcAft>
              <a:defRPr sz="1600">
                <a:solidFill>
                  <a:srgbClr val="222222"/>
                </a:solidFill>
                <a:latin typeface="Calibri"/>
              </a:defRPr>
            </a:pPr>
            <a:r>
              <a:t>Term 2:  antibiotics α* reduce viability — matrix B describes susceptibility</a:t>
            </a:r>
          </a:p>
        </p:txBody>
      </p:sp>
      <p:sp>
        <p:nvSpPr>
          <p:cNvPr id="13" name="TextBox 12"/>
          <p:cNvSpPr txBox="1"/>
          <p:nvPr/>
        </p:nvSpPr>
        <p:spPr>
          <a:xfrm>
            <a:off x="731520" y="6034024"/>
            <a:ext cx="10728655" cy="502920"/>
          </a:xfrm>
          <a:prstGeom prst="rect">
            <a:avLst/>
          </a:prstGeom>
          <a:noFill/>
        </p:spPr>
        <p:txBody>
          <a:bodyPr wrap="square">
            <a:spAutoFit/>
          </a:bodyPr>
          <a:lstStyle/>
          <a:p>
            <a:pPr algn="l">
              <a:defRPr sz="2200" b="1">
                <a:solidFill>
                  <a:srgbClr val="0072CE"/>
                </a:solidFill>
                <a:latin typeface="Calibri"/>
              </a:defRPr>
            </a:pPr>
            <a:r>
              <a:t>Dissipation Δs  (eq.16)  and  constraint c  (eq.18)</a:t>
            </a:r>
          </a:p>
        </p:txBody>
      </p:sp>
      <p:pic>
        <p:nvPicPr>
          <p:cNvPr id="14" name="Picture 13" descr="eq_7f03548edc5f.png"/>
          <p:cNvPicPr>
            <a:picLocks noChangeAspect="1"/>
          </p:cNvPicPr>
          <p:nvPr/>
        </p:nvPicPr>
        <p:blipFill>
          <a:blip r:embed="rId5"/>
          <a:stretch>
            <a:fillRect/>
          </a:stretch>
        </p:blipFill>
        <p:spPr>
          <a:xfrm>
            <a:off x="4463643" y="6582664"/>
            <a:ext cx="3264408" cy="579120"/>
          </a:xfrm>
          <a:prstGeom prst="rect">
            <a:avLst/>
          </a:prstGeom>
        </p:spPr>
      </p:pic>
      <p:pic>
        <p:nvPicPr>
          <p:cNvPr id="15" name="Picture 14" descr="eq_9584afa0d1b0.png"/>
          <p:cNvPicPr>
            <a:picLocks noChangeAspect="1"/>
          </p:cNvPicPr>
          <p:nvPr/>
        </p:nvPicPr>
        <p:blipFill>
          <a:blip r:embed="rId6"/>
          <a:stretch>
            <a:fillRect/>
          </a:stretch>
        </p:blipFill>
        <p:spPr>
          <a:xfrm>
            <a:off x="4712055" y="7207504"/>
            <a:ext cx="2767584" cy="905256"/>
          </a:xfrm>
          <a:prstGeom prst="rect">
            <a:avLst/>
          </a:prstGeom>
        </p:spPr>
      </p:pic>
      <p:sp>
        <p:nvSpPr>
          <p:cNvPr id="16" name="TextBox 15"/>
          <p:cNvSpPr txBox="1"/>
          <p:nvPr/>
        </p:nvSpPr>
        <p:spPr>
          <a:xfrm>
            <a:off x="731520" y="8185912"/>
            <a:ext cx="10728655" cy="502920"/>
          </a:xfrm>
          <a:prstGeom prst="rect">
            <a:avLst/>
          </a:prstGeom>
          <a:noFill/>
        </p:spPr>
        <p:txBody>
          <a:bodyPr wrap="square">
            <a:spAutoFit/>
          </a:bodyPr>
          <a:lstStyle/>
          <a:p>
            <a:pPr algn="l">
              <a:defRPr sz="2200" b="1">
                <a:solidFill>
                  <a:srgbClr val="0072CE"/>
                </a:solidFill>
                <a:latin typeface="Calibri"/>
              </a:defRPr>
            </a:pPr>
            <a:r>
              <a:t>Penalty barrier Ψ_p  (ensures ξ ∈ [0,1])</a:t>
            </a:r>
          </a:p>
        </p:txBody>
      </p:sp>
      <p:pic>
        <p:nvPicPr>
          <p:cNvPr id="17" name="Picture 16" descr="eq_d40f01ba18b1.png"/>
          <p:cNvPicPr>
            <a:picLocks noChangeAspect="1"/>
          </p:cNvPicPr>
          <p:nvPr/>
        </p:nvPicPr>
        <p:blipFill>
          <a:blip r:embed="rId7"/>
          <a:stretch>
            <a:fillRect/>
          </a:stretch>
        </p:blipFill>
        <p:spPr>
          <a:xfrm>
            <a:off x="4018636" y="8734552"/>
            <a:ext cx="4154423" cy="719328"/>
          </a:xfrm>
          <a:prstGeom prst="rect">
            <a:avLst/>
          </a:prstGeom>
        </p:spPr>
      </p:pic>
      <p:pic>
        <p:nvPicPr>
          <p:cNvPr id="18" name="Picture 17" descr="eq_7b01ddd87dc9.png"/>
          <p:cNvPicPr>
            <a:picLocks noChangeAspect="1"/>
          </p:cNvPicPr>
          <p:nvPr/>
        </p:nvPicPr>
        <p:blipFill>
          <a:blip r:embed="rId8"/>
          <a:stretch>
            <a:fillRect/>
          </a:stretch>
        </p:blipFill>
        <p:spPr>
          <a:xfrm>
            <a:off x="4434687" y="9499600"/>
            <a:ext cx="3322320" cy="640080"/>
          </a:xfrm>
          <a:prstGeom prst="rect">
            <a:avLst/>
          </a:prstGeom>
        </p:spPr>
      </p:pic>
      <p:sp>
        <p:nvSpPr>
          <p:cNvPr id="19" name="TextBox 18"/>
          <p:cNvSpPr txBox="1"/>
          <p:nvPr/>
        </p:nvSpPr>
        <p:spPr>
          <a:xfrm>
            <a:off x="731520" y="10185400"/>
            <a:ext cx="10728655" cy="365760"/>
          </a:xfrm>
          <a:prstGeom prst="rect">
            <a:avLst/>
          </a:prstGeom>
          <a:noFill/>
        </p:spPr>
        <p:txBody>
          <a:bodyPr wrap="square">
            <a:spAutoFit/>
          </a:bodyPr>
          <a:lstStyle/>
          <a:p>
            <a:pPr algn="l">
              <a:defRPr sz="1600" b="0">
                <a:solidFill>
                  <a:srgbClr val="222222"/>
                </a:solidFill>
                <a:latin typeface="Calibri"/>
              </a:defRPr>
            </a:pPr>
            <a:r>
              <a:t>→  Dissipation defined via φ̄ = φψ rate leads to deeply coupled φ-ψ system.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6576"/>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
            <a:ext cx="10728655" cy="685800"/>
          </a:xfrm>
          <a:prstGeom prst="rect">
            <a:avLst/>
          </a:prstGeom>
          <a:noFill/>
        </p:spPr>
        <p:txBody>
          <a:bodyPr wrap="square">
            <a:spAutoFit/>
          </a:bodyPr>
          <a:lstStyle/>
          <a:p>
            <a:pPr>
              <a:defRPr sz="3000" b="1">
                <a:solidFill>
                  <a:srgbClr val="FFFFFF"/>
                </a:solidFill>
                <a:latin typeface="Calibri"/>
              </a:defRPr>
            </a:pPr>
            <a:r>
              <a:t>FOM — State Variables and Constraints</a:t>
            </a:r>
          </a:p>
        </p:txBody>
      </p:sp>
      <p:sp>
        <p:nvSpPr>
          <p:cNvPr id="5" name="TextBox 4"/>
          <p:cNvSpPr txBox="1"/>
          <p:nvPr/>
        </p:nvSpPr>
        <p:spPr>
          <a:xfrm>
            <a:off x="11277295" y="6446520"/>
            <a:ext cx="548640" cy="274320"/>
          </a:xfrm>
          <a:prstGeom prst="rect">
            <a:avLst/>
          </a:prstGeom>
          <a:noFill/>
        </p:spPr>
        <p:txBody>
          <a:bodyPr wrap="none">
            <a:spAutoFit/>
          </a:bodyPr>
          <a:lstStyle/>
          <a:p>
            <a:pPr algn="r">
              <a:defRPr sz="1200">
                <a:solidFill>
                  <a:srgbClr val="666666"/>
                </a:solidFill>
                <a:latin typeface="Calibri"/>
              </a:defRPr>
            </a:pPr>
            <a:r>
              <a:t>6</a:t>
            </a:r>
          </a:p>
        </p:txBody>
      </p:sp>
      <p:sp>
        <p:nvSpPr>
          <p:cNvPr id="6" name="TextBox 5"/>
          <p:cNvSpPr txBox="1"/>
          <p:nvPr/>
        </p:nvSpPr>
        <p:spPr>
          <a:xfrm>
            <a:off x="731520" y="1280160"/>
            <a:ext cx="10728655" cy="502920"/>
          </a:xfrm>
          <a:prstGeom prst="rect">
            <a:avLst/>
          </a:prstGeom>
          <a:noFill/>
        </p:spPr>
        <p:txBody>
          <a:bodyPr wrap="square">
            <a:spAutoFit/>
          </a:bodyPr>
          <a:lstStyle/>
          <a:p>
            <a:pPr algn="l">
              <a:defRPr sz="2200" b="1">
                <a:solidFill>
                  <a:srgbClr val="0072CE"/>
                </a:solidFill>
                <a:latin typeface="Calibri"/>
              </a:defRPr>
            </a:pPr>
            <a:r>
              <a:t>Notation bridge:  ξ → g</a:t>
            </a:r>
          </a:p>
        </p:txBody>
      </p:sp>
      <p:pic>
        <p:nvPicPr>
          <p:cNvPr id="7" name="Picture 6" descr="eq_d08e2ad53568.png"/>
          <p:cNvPicPr>
            <a:picLocks noChangeAspect="1"/>
          </p:cNvPicPr>
          <p:nvPr/>
        </p:nvPicPr>
        <p:blipFill>
          <a:blip r:embed="rId2"/>
          <a:stretch>
            <a:fillRect/>
          </a:stretch>
        </p:blipFill>
        <p:spPr>
          <a:xfrm>
            <a:off x="3730599" y="1828800"/>
            <a:ext cx="4730496" cy="292608"/>
          </a:xfrm>
          <a:prstGeom prst="rect">
            <a:avLst/>
          </a:prstGeom>
        </p:spPr>
      </p:pic>
      <p:sp>
        <p:nvSpPr>
          <p:cNvPr id="8" name="TextBox 7"/>
          <p:cNvSpPr txBox="1"/>
          <p:nvPr/>
        </p:nvSpPr>
        <p:spPr>
          <a:xfrm>
            <a:off x="731520" y="2121408"/>
            <a:ext cx="10728655" cy="365760"/>
          </a:xfrm>
          <a:prstGeom prst="rect">
            <a:avLst/>
          </a:prstGeom>
          <a:noFill/>
        </p:spPr>
        <p:txBody>
          <a:bodyPr wrap="square">
            <a:spAutoFit/>
          </a:bodyPr>
          <a:lstStyle/>
          <a:p>
            <a:pPr algn="l">
              <a:defRPr sz="1600" b="0">
                <a:solidFill>
                  <a:srgbClr val="222222"/>
                </a:solidFill>
                <a:latin typeface="Calibri"/>
              </a:defRPr>
            </a:pPr>
            <a:r>
              <a:t>Augmented with φ₀ (matrix volume fraction) and γ (Lagrange multiplier).</a:t>
            </a:r>
          </a:p>
        </p:txBody>
      </p:sp>
      <p:sp>
        <p:nvSpPr>
          <p:cNvPr id="9" name="TextBox 8"/>
          <p:cNvSpPr txBox="1"/>
          <p:nvPr/>
        </p:nvSpPr>
        <p:spPr>
          <a:xfrm>
            <a:off x="731520" y="2578608"/>
            <a:ext cx="10728655" cy="457200"/>
          </a:xfrm>
          <a:prstGeom prst="rect">
            <a:avLst/>
          </a:prstGeom>
          <a:noFill/>
        </p:spPr>
        <p:txBody>
          <a:bodyPr wrap="square">
            <a:spAutoFit/>
          </a:bodyPr>
          <a:lstStyle/>
          <a:p>
            <a:pPr algn="l">
              <a:defRPr sz="2000" b="1">
                <a:solidFill>
                  <a:srgbClr val="222222"/>
                </a:solidFill>
                <a:latin typeface="Calibri"/>
              </a:defRPr>
            </a:pPr>
            <a:r>
              <a:t>State vector</a:t>
            </a:r>
          </a:p>
        </p:txBody>
      </p:sp>
      <p:pic>
        <p:nvPicPr>
          <p:cNvPr id="10" name="Picture 9" descr="eq_d10253e62042.png"/>
          <p:cNvPicPr>
            <a:picLocks noChangeAspect="1"/>
          </p:cNvPicPr>
          <p:nvPr/>
        </p:nvPicPr>
        <p:blipFill>
          <a:blip r:embed="rId3"/>
          <a:stretch>
            <a:fillRect/>
          </a:stretch>
        </p:blipFill>
        <p:spPr>
          <a:xfrm>
            <a:off x="3200247" y="3108960"/>
            <a:ext cx="5791200" cy="502920"/>
          </a:xfrm>
          <a:prstGeom prst="rect">
            <a:avLst/>
          </a:prstGeom>
        </p:spPr>
      </p:pic>
      <p:pic>
        <p:nvPicPr>
          <p:cNvPr id="11" name="Picture 10" descr="eq_52315a1eda23.png"/>
          <p:cNvPicPr>
            <a:picLocks noChangeAspect="1"/>
          </p:cNvPicPr>
          <p:nvPr/>
        </p:nvPicPr>
        <p:blipFill>
          <a:blip r:embed="rId4"/>
          <a:stretch>
            <a:fillRect/>
          </a:stretch>
        </p:blipFill>
        <p:spPr>
          <a:xfrm>
            <a:off x="1005840" y="3816096"/>
            <a:ext cx="551688" cy="323088"/>
          </a:xfrm>
          <a:prstGeom prst="rect">
            <a:avLst/>
          </a:prstGeom>
        </p:spPr>
      </p:pic>
      <p:sp>
        <p:nvSpPr>
          <p:cNvPr id="12" name="TextBox 11"/>
          <p:cNvSpPr txBox="1"/>
          <p:nvPr/>
        </p:nvSpPr>
        <p:spPr>
          <a:xfrm>
            <a:off x="3291840" y="3749040"/>
            <a:ext cx="8168335" cy="457200"/>
          </a:xfrm>
          <a:prstGeom prst="rect">
            <a:avLst/>
          </a:prstGeom>
          <a:noFill/>
        </p:spPr>
        <p:txBody>
          <a:bodyPr wrap="square" anchor="ctr">
            <a:spAutoFit/>
          </a:bodyPr>
          <a:lstStyle/>
          <a:p>
            <a:pPr>
              <a:defRPr sz="1800">
                <a:solidFill>
                  <a:srgbClr val="222222"/>
                </a:solidFill>
                <a:latin typeface="Calibri"/>
              </a:defRPr>
            </a:pPr>
            <a:r>
              <a:t>Volume fraction of species i  (i = 1, …, 5)</a:t>
            </a:r>
          </a:p>
        </p:txBody>
      </p:sp>
      <p:pic>
        <p:nvPicPr>
          <p:cNvPr id="13" name="Picture 12" descr="eq_7b5bcc121f4d.png"/>
          <p:cNvPicPr>
            <a:picLocks noChangeAspect="1"/>
          </p:cNvPicPr>
          <p:nvPr/>
        </p:nvPicPr>
        <p:blipFill>
          <a:blip r:embed="rId5"/>
          <a:stretch>
            <a:fillRect/>
          </a:stretch>
        </p:blipFill>
        <p:spPr>
          <a:xfrm>
            <a:off x="1005840" y="4300728"/>
            <a:ext cx="579120" cy="323088"/>
          </a:xfrm>
          <a:prstGeom prst="rect">
            <a:avLst/>
          </a:prstGeom>
        </p:spPr>
      </p:pic>
      <p:sp>
        <p:nvSpPr>
          <p:cNvPr id="14" name="TextBox 13"/>
          <p:cNvSpPr txBox="1"/>
          <p:nvPr/>
        </p:nvSpPr>
        <p:spPr>
          <a:xfrm>
            <a:off x="3291840" y="4233672"/>
            <a:ext cx="8168335" cy="457200"/>
          </a:xfrm>
          <a:prstGeom prst="rect">
            <a:avLst/>
          </a:prstGeom>
          <a:noFill/>
        </p:spPr>
        <p:txBody>
          <a:bodyPr wrap="square" anchor="ctr">
            <a:spAutoFit/>
          </a:bodyPr>
          <a:lstStyle/>
          <a:p>
            <a:pPr>
              <a:defRPr sz="1800">
                <a:solidFill>
                  <a:srgbClr val="222222"/>
                </a:solidFill>
                <a:latin typeface="Calibri"/>
              </a:defRPr>
            </a:pPr>
            <a:r>
              <a:t>Volume fraction of the matrix / aqueous phase</a:t>
            </a:r>
          </a:p>
        </p:txBody>
      </p:sp>
      <p:pic>
        <p:nvPicPr>
          <p:cNvPr id="15" name="Picture 14" descr="eq_44c86fc67f75.png"/>
          <p:cNvPicPr>
            <a:picLocks noChangeAspect="1"/>
          </p:cNvPicPr>
          <p:nvPr/>
        </p:nvPicPr>
        <p:blipFill>
          <a:blip r:embed="rId6"/>
          <a:stretch>
            <a:fillRect/>
          </a:stretch>
        </p:blipFill>
        <p:spPr>
          <a:xfrm>
            <a:off x="1005840" y="4785360"/>
            <a:ext cx="566928" cy="323088"/>
          </a:xfrm>
          <a:prstGeom prst="rect">
            <a:avLst/>
          </a:prstGeom>
        </p:spPr>
      </p:pic>
      <p:sp>
        <p:nvSpPr>
          <p:cNvPr id="16" name="TextBox 15"/>
          <p:cNvSpPr txBox="1"/>
          <p:nvPr/>
        </p:nvSpPr>
        <p:spPr>
          <a:xfrm>
            <a:off x="3291840" y="4718304"/>
            <a:ext cx="8168335" cy="457200"/>
          </a:xfrm>
          <a:prstGeom prst="rect">
            <a:avLst/>
          </a:prstGeom>
          <a:noFill/>
        </p:spPr>
        <p:txBody>
          <a:bodyPr wrap="square" anchor="ctr">
            <a:spAutoFit/>
          </a:bodyPr>
          <a:lstStyle/>
          <a:p>
            <a:pPr>
              <a:defRPr sz="1800">
                <a:solidFill>
                  <a:srgbClr val="222222"/>
                </a:solidFill>
                <a:latin typeface="Calibri"/>
              </a:defRPr>
            </a:pPr>
            <a:r>
              <a:t>Internal structure / density variable of species i</a:t>
            </a:r>
          </a:p>
        </p:txBody>
      </p:sp>
      <p:pic>
        <p:nvPicPr>
          <p:cNvPr id="17" name="Picture 16" descr="eq_433db2d8d02c.png"/>
          <p:cNvPicPr>
            <a:picLocks noChangeAspect="1"/>
          </p:cNvPicPr>
          <p:nvPr/>
        </p:nvPicPr>
        <p:blipFill>
          <a:blip r:embed="rId7"/>
          <a:stretch>
            <a:fillRect/>
          </a:stretch>
        </p:blipFill>
        <p:spPr>
          <a:xfrm>
            <a:off x="1005840" y="5269992"/>
            <a:ext cx="481583" cy="323088"/>
          </a:xfrm>
          <a:prstGeom prst="rect">
            <a:avLst/>
          </a:prstGeom>
        </p:spPr>
      </p:pic>
      <p:sp>
        <p:nvSpPr>
          <p:cNvPr id="18" name="TextBox 17"/>
          <p:cNvSpPr txBox="1"/>
          <p:nvPr/>
        </p:nvSpPr>
        <p:spPr>
          <a:xfrm>
            <a:off x="3291840" y="5202936"/>
            <a:ext cx="8168335" cy="457200"/>
          </a:xfrm>
          <a:prstGeom prst="rect">
            <a:avLst/>
          </a:prstGeom>
          <a:noFill/>
        </p:spPr>
        <p:txBody>
          <a:bodyPr wrap="square" anchor="ctr">
            <a:spAutoFit/>
          </a:bodyPr>
          <a:lstStyle/>
          <a:p>
            <a:pPr>
              <a:defRPr sz="1800">
                <a:solidFill>
                  <a:srgbClr val="222222"/>
                </a:solidFill>
                <a:latin typeface="Calibri"/>
              </a:defRPr>
            </a:pPr>
            <a:r>
              <a:t>Lagrange multiplier enforcing volume conservation</a:t>
            </a:r>
          </a:p>
        </p:txBody>
      </p:sp>
      <p:sp>
        <p:nvSpPr>
          <p:cNvPr id="19" name="TextBox 18"/>
          <p:cNvSpPr txBox="1"/>
          <p:nvPr/>
        </p:nvSpPr>
        <p:spPr>
          <a:xfrm>
            <a:off x="731520" y="5824728"/>
            <a:ext cx="10728655" cy="457200"/>
          </a:xfrm>
          <a:prstGeom prst="rect">
            <a:avLst/>
          </a:prstGeom>
          <a:noFill/>
        </p:spPr>
        <p:txBody>
          <a:bodyPr wrap="square">
            <a:spAutoFit/>
          </a:bodyPr>
          <a:lstStyle/>
          <a:p>
            <a:pPr algn="l">
              <a:defRPr sz="2000" b="1">
                <a:solidFill>
                  <a:srgbClr val="222222"/>
                </a:solidFill>
                <a:latin typeface="Calibri"/>
              </a:defRPr>
            </a:pPr>
            <a:r>
              <a:t>Volume conservation constraint</a:t>
            </a:r>
          </a:p>
        </p:txBody>
      </p:sp>
      <p:pic>
        <p:nvPicPr>
          <p:cNvPr id="20" name="Picture 19" descr="eq_cfcf0fa869be.png"/>
          <p:cNvPicPr>
            <a:picLocks noChangeAspect="1"/>
          </p:cNvPicPr>
          <p:nvPr/>
        </p:nvPicPr>
        <p:blipFill>
          <a:blip r:embed="rId8"/>
          <a:stretch>
            <a:fillRect/>
          </a:stretch>
        </p:blipFill>
        <p:spPr>
          <a:xfrm>
            <a:off x="4783683" y="6355080"/>
            <a:ext cx="2624328" cy="944880"/>
          </a:xfrm>
          <a:prstGeom prst="rect">
            <a:avLst/>
          </a:prstGeom>
        </p:spPr>
      </p:pic>
      <p:sp>
        <p:nvSpPr>
          <p:cNvPr id="21" name="TextBox 20"/>
          <p:cNvSpPr txBox="1"/>
          <p:nvPr/>
        </p:nvSpPr>
        <p:spPr>
          <a:xfrm>
            <a:off x="731520" y="7373112"/>
            <a:ext cx="10728655" cy="411480"/>
          </a:xfrm>
          <a:prstGeom prst="rect">
            <a:avLst/>
          </a:prstGeom>
          <a:noFill/>
        </p:spPr>
        <p:txBody>
          <a:bodyPr wrap="square">
            <a:spAutoFit/>
          </a:bodyPr>
          <a:lstStyle/>
          <a:p>
            <a:pPr algn="l">
              <a:defRPr sz="1800" b="0">
                <a:solidFill>
                  <a:srgbClr val="222222"/>
                </a:solidFill>
                <a:latin typeface="Calibri"/>
              </a:defRPr>
            </a:pPr>
            <a:r>
              <a:t>→  The sum of all volume fractions is always unity.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6576"/>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
            <a:ext cx="10728655" cy="685800"/>
          </a:xfrm>
          <a:prstGeom prst="rect">
            <a:avLst/>
          </a:prstGeom>
          <a:noFill/>
        </p:spPr>
        <p:txBody>
          <a:bodyPr wrap="square">
            <a:spAutoFit/>
          </a:bodyPr>
          <a:lstStyle/>
          <a:p>
            <a:pPr>
              <a:defRPr sz="3000" b="1">
                <a:solidFill>
                  <a:srgbClr val="FFFFFF"/>
                </a:solidFill>
                <a:latin typeface="Calibri"/>
              </a:defRPr>
            </a:pPr>
            <a:r>
              <a:t>FOM — Free-Energy-Based Governing Equations</a:t>
            </a:r>
          </a:p>
        </p:txBody>
      </p:sp>
      <p:sp>
        <p:nvSpPr>
          <p:cNvPr id="5" name="TextBox 4"/>
          <p:cNvSpPr txBox="1"/>
          <p:nvPr/>
        </p:nvSpPr>
        <p:spPr>
          <a:xfrm>
            <a:off x="11277295" y="6446520"/>
            <a:ext cx="548640" cy="274320"/>
          </a:xfrm>
          <a:prstGeom prst="rect">
            <a:avLst/>
          </a:prstGeom>
          <a:noFill/>
        </p:spPr>
        <p:txBody>
          <a:bodyPr wrap="none">
            <a:spAutoFit/>
          </a:bodyPr>
          <a:lstStyle/>
          <a:p>
            <a:pPr algn="r">
              <a:defRPr sz="1200">
                <a:solidFill>
                  <a:srgbClr val="666666"/>
                </a:solidFill>
                <a:latin typeface="Calibri"/>
              </a:defRPr>
            </a:pPr>
            <a:r>
              <a:t>7</a:t>
            </a:r>
          </a:p>
        </p:txBody>
      </p:sp>
      <p:sp>
        <p:nvSpPr>
          <p:cNvPr id="6" name="TextBox 5"/>
          <p:cNvSpPr txBox="1"/>
          <p:nvPr/>
        </p:nvSpPr>
        <p:spPr>
          <a:xfrm>
            <a:off x="731520" y="1280160"/>
            <a:ext cx="10728655" cy="457200"/>
          </a:xfrm>
          <a:prstGeom prst="rect">
            <a:avLst/>
          </a:prstGeom>
          <a:noFill/>
        </p:spPr>
        <p:txBody>
          <a:bodyPr wrap="square">
            <a:spAutoFit/>
          </a:bodyPr>
          <a:lstStyle/>
          <a:p>
            <a:pPr algn="l">
              <a:defRPr sz="2000" b="1">
                <a:solidFill>
                  <a:srgbClr val="222222"/>
                </a:solidFill>
                <a:latin typeface="Calibri"/>
              </a:defRPr>
            </a:pPr>
            <a:r>
              <a:t>Dissipative dynamics driven by Ψ_total ≡ F(g)</a:t>
            </a:r>
          </a:p>
        </p:txBody>
      </p:sp>
      <p:pic>
        <p:nvPicPr>
          <p:cNvPr id="7" name="Picture 6" descr="eq_95b956ea1694.png"/>
          <p:cNvPicPr>
            <a:picLocks noChangeAspect="1"/>
          </p:cNvPicPr>
          <p:nvPr/>
        </p:nvPicPr>
        <p:blipFill>
          <a:blip r:embed="rId2"/>
          <a:stretch>
            <a:fillRect/>
          </a:stretch>
        </p:blipFill>
        <p:spPr>
          <a:xfrm>
            <a:off x="3758031" y="1810512"/>
            <a:ext cx="4675632" cy="801624"/>
          </a:xfrm>
          <a:prstGeom prst="rect">
            <a:avLst/>
          </a:prstGeom>
        </p:spPr>
      </p:pic>
      <p:pic>
        <p:nvPicPr>
          <p:cNvPr id="8" name="Picture 7" descr="eq_a7af802691ce.png"/>
          <p:cNvPicPr>
            <a:picLocks noChangeAspect="1"/>
          </p:cNvPicPr>
          <p:nvPr/>
        </p:nvPicPr>
        <p:blipFill>
          <a:blip r:embed="rId3"/>
          <a:stretch>
            <a:fillRect/>
          </a:stretch>
        </p:blipFill>
        <p:spPr>
          <a:xfrm>
            <a:off x="1005840" y="2816352"/>
            <a:ext cx="664464" cy="323088"/>
          </a:xfrm>
          <a:prstGeom prst="rect">
            <a:avLst/>
          </a:prstGeom>
        </p:spPr>
      </p:pic>
      <p:sp>
        <p:nvSpPr>
          <p:cNvPr id="9" name="TextBox 8"/>
          <p:cNvSpPr txBox="1"/>
          <p:nvPr/>
        </p:nvSpPr>
        <p:spPr>
          <a:xfrm>
            <a:off x="3291840" y="2749296"/>
            <a:ext cx="8168335" cy="457200"/>
          </a:xfrm>
          <a:prstGeom prst="rect">
            <a:avLst/>
          </a:prstGeom>
          <a:noFill/>
        </p:spPr>
        <p:txBody>
          <a:bodyPr wrap="square" anchor="ctr">
            <a:spAutoFit/>
          </a:bodyPr>
          <a:lstStyle/>
          <a:p>
            <a:pPr>
              <a:defRPr sz="1800">
                <a:solidFill>
                  <a:srgbClr val="222222"/>
                </a:solidFill>
                <a:latin typeface="Calibri"/>
              </a:defRPr>
            </a:pPr>
            <a:r>
              <a:t>Mobility matrix — encodes φ̄ = φψ coupling (not simply η⁻¹)</a:t>
            </a:r>
          </a:p>
        </p:txBody>
      </p:sp>
      <p:pic>
        <p:nvPicPr>
          <p:cNvPr id="10" name="Picture 9" descr="eq_aba3fe0c8acd.png"/>
          <p:cNvPicPr>
            <a:picLocks noChangeAspect="1"/>
          </p:cNvPicPr>
          <p:nvPr/>
        </p:nvPicPr>
        <p:blipFill>
          <a:blip r:embed="rId4"/>
          <a:stretch>
            <a:fillRect/>
          </a:stretch>
        </p:blipFill>
        <p:spPr>
          <a:xfrm>
            <a:off x="1005840" y="3300984"/>
            <a:ext cx="1469136" cy="323088"/>
          </a:xfrm>
          <a:prstGeom prst="rect">
            <a:avLst/>
          </a:prstGeom>
        </p:spPr>
      </p:pic>
      <p:sp>
        <p:nvSpPr>
          <p:cNvPr id="11" name="TextBox 10"/>
          <p:cNvSpPr txBox="1"/>
          <p:nvPr/>
        </p:nvSpPr>
        <p:spPr>
          <a:xfrm>
            <a:off x="3291840" y="3233928"/>
            <a:ext cx="8168335" cy="457200"/>
          </a:xfrm>
          <a:prstGeom prst="rect">
            <a:avLst/>
          </a:prstGeom>
          <a:noFill/>
        </p:spPr>
        <p:txBody>
          <a:bodyPr wrap="square" anchor="ctr">
            <a:spAutoFit/>
          </a:bodyPr>
          <a:lstStyle/>
          <a:p>
            <a:pPr>
              <a:defRPr sz="1800">
                <a:solidFill>
                  <a:srgbClr val="222222"/>
                </a:solidFill>
                <a:latin typeface="Calibri"/>
              </a:defRPr>
            </a:pPr>
            <a:r>
              <a:t>Total energy = interaction Ψ + penalty Ψ_p</a:t>
            </a:r>
          </a:p>
        </p:txBody>
      </p:sp>
      <p:pic>
        <p:nvPicPr>
          <p:cNvPr id="12" name="Picture 11" descr="eq_17e8d36ac341.png"/>
          <p:cNvPicPr>
            <a:picLocks noChangeAspect="1"/>
          </p:cNvPicPr>
          <p:nvPr/>
        </p:nvPicPr>
        <p:blipFill>
          <a:blip r:embed="rId5"/>
          <a:stretch>
            <a:fillRect/>
          </a:stretch>
        </p:blipFill>
        <p:spPr>
          <a:xfrm>
            <a:off x="1005840" y="3785616"/>
            <a:ext cx="563880" cy="323088"/>
          </a:xfrm>
          <a:prstGeom prst="rect">
            <a:avLst/>
          </a:prstGeom>
        </p:spPr>
      </p:pic>
      <p:sp>
        <p:nvSpPr>
          <p:cNvPr id="13" name="TextBox 12"/>
          <p:cNvSpPr txBox="1"/>
          <p:nvPr/>
        </p:nvSpPr>
        <p:spPr>
          <a:xfrm>
            <a:off x="3291840" y="3718560"/>
            <a:ext cx="8168335" cy="457200"/>
          </a:xfrm>
          <a:prstGeom prst="rect">
            <a:avLst/>
          </a:prstGeom>
          <a:noFill/>
        </p:spPr>
        <p:txBody>
          <a:bodyPr wrap="square" anchor="ctr">
            <a:spAutoFit/>
          </a:bodyPr>
          <a:lstStyle/>
          <a:p>
            <a:pPr>
              <a:defRPr sz="1800">
                <a:solidFill>
                  <a:srgbClr val="222222"/>
                </a:solidFill>
                <a:latin typeface="Calibri"/>
              </a:defRPr>
            </a:pPr>
            <a:r>
              <a:t>Source term — growth, washout, and other non-conservative forces</a:t>
            </a:r>
          </a:p>
        </p:txBody>
      </p:sp>
      <p:sp>
        <p:nvSpPr>
          <p:cNvPr id="14" name="TextBox 13"/>
          <p:cNvSpPr txBox="1"/>
          <p:nvPr/>
        </p:nvSpPr>
        <p:spPr>
          <a:xfrm>
            <a:off x="731520" y="4340352"/>
            <a:ext cx="10728655" cy="457200"/>
          </a:xfrm>
          <a:prstGeom prst="rect">
            <a:avLst/>
          </a:prstGeom>
          <a:noFill/>
        </p:spPr>
        <p:txBody>
          <a:bodyPr wrap="square">
            <a:spAutoFit/>
          </a:bodyPr>
          <a:lstStyle/>
          <a:p>
            <a:pPr algn="l">
              <a:defRPr sz="2000" b="1">
                <a:solidFill>
                  <a:srgbClr val="222222"/>
                </a:solidFill>
                <a:latin typeface="Calibri"/>
              </a:defRPr>
            </a:pPr>
            <a:r>
              <a:t>Time discretisation — implicit Euler method</a:t>
            </a:r>
          </a:p>
        </p:txBody>
      </p:sp>
      <p:pic>
        <p:nvPicPr>
          <p:cNvPr id="15" name="Picture 14" descr="eq_6ba3ff2e77ff.png"/>
          <p:cNvPicPr>
            <a:picLocks noChangeAspect="1"/>
          </p:cNvPicPr>
          <p:nvPr/>
        </p:nvPicPr>
        <p:blipFill>
          <a:blip r:embed="rId6"/>
          <a:stretch>
            <a:fillRect/>
          </a:stretch>
        </p:blipFill>
        <p:spPr>
          <a:xfrm>
            <a:off x="4585563" y="4870704"/>
            <a:ext cx="3020568" cy="496824"/>
          </a:xfrm>
          <a:prstGeom prst="rect">
            <a:avLst/>
          </a:prstGeom>
        </p:spPr>
      </p:pic>
      <p:sp>
        <p:nvSpPr>
          <p:cNvPr id="16" name="TextBox 15"/>
          <p:cNvSpPr txBox="1"/>
          <p:nvPr/>
        </p:nvSpPr>
        <p:spPr>
          <a:xfrm>
            <a:off x="731520" y="5440680"/>
            <a:ext cx="10728655" cy="411480"/>
          </a:xfrm>
          <a:prstGeom prst="rect">
            <a:avLst/>
          </a:prstGeom>
          <a:noFill/>
        </p:spPr>
        <p:txBody>
          <a:bodyPr wrap="square">
            <a:spAutoFit/>
          </a:bodyPr>
          <a:lstStyle/>
          <a:p>
            <a:pPr algn="l">
              <a:defRPr sz="1800" b="0">
                <a:solidFill>
                  <a:srgbClr val="222222"/>
                </a:solidFill>
                <a:latin typeface="Calibri"/>
              </a:defRPr>
            </a:pPr>
            <a:r>
              <a:t>→  Nonlinear system solved by Newton's method at each time step.</a:t>
            </a:r>
          </a:p>
        </p:txBody>
      </p:sp>
      <p:sp>
        <p:nvSpPr>
          <p:cNvPr id="17" name="TextBox 16"/>
          <p:cNvSpPr txBox="1"/>
          <p:nvPr/>
        </p:nvSpPr>
        <p:spPr>
          <a:xfrm>
            <a:off x="731520" y="5852160"/>
            <a:ext cx="10728655" cy="411480"/>
          </a:xfrm>
          <a:prstGeom prst="rect">
            <a:avLst/>
          </a:prstGeom>
          <a:noFill/>
        </p:spPr>
        <p:txBody>
          <a:bodyPr wrap="square">
            <a:spAutoFit/>
          </a:bodyPr>
          <a:lstStyle/>
          <a:p>
            <a:pPr algn="l">
              <a:defRPr sz="1800" b="0">
                <a:solidFill>
                  <a:srgbClr val="222222"/>
                </a:solidFill>
                <a:latin typeface="Calibri"/>
              </a:defRPr>
            </a:pPr>
            <a:r>
              <a:t>→  Ensures stable integration for the stiff biofilm dynamics.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6576"/>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
            <a:ext cx="10728655" cy="685800"/>
          </a:xfrm>
          <a:prstGeom prst="rect">
            <a:avLst/>
          </a:prstGeom>
          <a:noFill/>
        </p:spPr>
        <p:txBody>
          <a:bodyPr wrap="square">
            <a:spAutoFit/>
          </a:bodyPr>
          <a:lstStyle/>
          <a:p>
            <a:pPr>
              <a:defRPr sz="3000" b="1">
                <a:solidFill>
                  <a:srgbClr val="FFFFFF"/>
                </a:solidFill>
                <a:latin typeface="Calibri"/>
              </a:defRPr>
            </a:pPr>
            <a:r>
              <a:t>FOM — Strong Form Structure (Overview)</a:t>
            </a:r>
          </a:p>
        </p:txBody>
      </p:sp>
      <p:sp>
        <p:nvSpPr>
          <p:cNvPr id="5" name="TextBox 4"/>
          <p:cNvSpPr txBox="1"/>
          <p:nvPr/>
        </p:nvSpPr>
        <p:spPr>
          <a:xfrm>
            <a:off x="11277295" y="6446520"/>
            <a:ext cx="548640" cy="274320"/>
          </a:xfrm>
          <a:prstGeom prst="rect">
            <a:avLst/>
          </a:prstGeom>
          <a:noFill/>
        </p:spPr>
        <p:txBody>
          <a:bodyPr wrap="none">
            <a:spAutoFit/>
          </a:bodyPr>
          <a:lstStyle/>
          <a:p>
            <a:pPr algn="r">
              <a:defRPr sz="1200">
                <a:solidFill>
                  <a:srgbClr val="666666"/>
                </a:solidFill>
                <a:latin typeface="Calibri"/>
              </a:defRPr>
            </a:pPr>
            <a:r>
              <a:t>8</a:t>
            </a:r>
          </a:p>
        </p:txBody>
      </p:sp>
      <p:sp>
        <p:nvSpPr>
          <p:cNvPr id="6" name="TextBox 5"/>
          <p:cNvSpPr txBox="1"/>
          <p:nvPr/>
        </p:nvSpPr>
        <p:spPr>
          <a:xfrm>
            <a:off x="731520" y="1280160"/>
            <a:ext cx="10728655" cy="457200"/>
          </a:xfrm>
          <a:prstGeom prst="rect">
            <a:avLst/>
          </a:prstGeom>
          <a:noFill/>
        </p:spPr>
        <p:txBody>
          <a:bodyPr wrap="square">
            <a:spAutoFit/>
          </a:bodyPr>
          <a:lstStyle/>
          <a:p>
            <a:pPr algn="l">
              <a:defRPr sz="2000" b="0">
                <a:solidFill>
                  <a:srgbClr val="222222"/>
                </a:solidFill>
                <a:latin typeface="Calibri"/>
              </a:defRPr>
            </a:pPr>
            <a:r>
              <a:t>Strong form for volume fraction φᵢ — colour-coded by physical role:</a:t>
            </a:r>
          </a:p>
        </p:txBody>
      </p:sp>
      <p:pic>
        <p:nvPicPr>
          <p:cNvPr id="7" name="Picture 6" descr="eq_f0b6e0414519.png"/>
          <p:cNvPicPr>
            <a:picLocks noChangeAspect="1"/>
          </p:cNvPicPr>
          <p:nvPr/>
        </p:nvPicPr>
        <p:blipFill>
          <a:blip r:embed="rId2"/>
          <a:stretch>
            <a:fillRect/>
          </a:stretch>
        </p:blipFill>
        <p:spPr>
          <a:xfrm>
            <a:off x="2102968" y="1828800"/>
            <a:ext cx="7985759" cy="676656"/>
          </a:xfrm>
          <a:prstGeom prst="rect">
            <a:avLst/>
          </a:prstGeom>
        </p:spPr>
      </p:pic>
      <p:pic>
        <p:nvPicPr>
          <p:cNvPr id="8" name="Picture 7" descr="eq_79a6c4986839.png"/>
          <p:cNvPicPr>
            <a:picLocks noChangeAspect="1"/>
          </p:cNvPicPr>
          <p:nvPr/>
        </p:nvPicPr>
        <p:blipFill>
          <a:blip r:embed="rId3"/>
          <a:stretch>
            <a:fillRect/>
          </a:stretch>
        </p:blipFill>
        <p:spPr>
          <a:xfrm>
            <a:off x="2592171" y="2642616"/>
            <a:ext cx="7007352" cy="243840"/>
          </a:xfrm>
          <a:prstGeom prst="rect">
            <a:avLst/>
          </a:prstGeom>
        </p:spPr>
      </p:pic>
      <p:sp>
        <p:nvSpPr>
          <p:cNvPr id="9" name="TextBox 8"/>
          <p:cNvSpPr txBox="1"/>
          <p:nvPr/>
        </p:nvSpPr>
        <p:spPr>
          <a:xfrm>
            <a:off x="731520" y="3069336"/>
            <a:ext cx="10728655" cy="457200"/>
          </a:xfrm>
          <a:prstGeom prst="rect">
            <a:avLst/>
          </a:prstGeom>
          <a:noFill/>
        </p:spPr>
        <p:txBody>
          <a:bodyPr wrap="square">
            <a:spAutoFit/>
          </a:bodyPr>
          <a:lstStyle/>
          <a:p>
            <a:pPr algn="l">
              <a:defRPr sz="2000" b="1">
                <a:solidFill>
                  <a:srgbClr val="222222"/>
                </a:solidFill>
                <a:latin typeface="Calibri"/>
              </a:defRPr>
            </a:pPr>
            <a:r>
              <a:t>Volume conservation constraint</a:t>
            </a:r>
          </a:p>
        </p:txBody>
      </p:sp>
      <p:pic>
        <p:nvPicPr>
          <p:cNvPr id="10" name="Picture 9" descr="eq_cfcf0fa869be.png"/>
          <p:cNvPicPr>
            <a:picLocks noChangeAspect="1"/>
          </p:cNvPicPr>
          <p:nvPr/>
        </p:nvPicPr>
        <p:blipFill>
          <a:blip r:embed="rId4"/>
          <a:stretch>
            <a:fillRect/>
          </a:stretch>
        </p:blipFill>
        <p:spPr>
          <a:xfrm>
            <a:off x="4783683" y="3572256"/>
            <a:ext cx="2624328" cy="944880"/>
          </a:xfrm>
          <a:prstGeom prst="rect">
            <a:avLst/>
          </a:prstGeom>
        </p:spPr>
      </p:pic>
      <p:sp>
        <p:nvSpPr>
          <p:cNvPr id="11" name="TextBox 10"/>
          <p:cNvSpPr txBox="1"/>
          <p:nvPr/>
        </p:nvSpPr>
        <p:spPr>
          <a:xfrm>
            <a:off x="731520" y="4654296"/>
            <a:ext cx="10728655" cy="1625600"/>
          </a:xfrm>
          <a:prstGeom prst="rect">
            <a:avLst/>
          </a:prstGeom>
          <a:noFill/>
        </p:spPr>
        <p:txBody>
          <a:bodyPr wrap="square">
            <a:spAutoFit/>
          </a:bodyPr>
          <a:lstStyle/>
          <a:p>
            <a:pPr>
              <a:spcAft>
                <a:spcPts val="400"/>
              </a:spcAft>
              <a:defRPr sz="1600">
                <a:solidFill>
                  <a:srgbClr val="222222"/>
                </a:solidFill>
                <a:latin typeface="Calibri"/>
              </a:defRPr>
            </a:pPr>
            <a:r>
              <a:t>Penalty gradient:  ∂Ψ_p/∂φᵢ — barrier ensuring ξ ∈ (0,1)</a:t>
            </a:r>
          </a:p>
          <a:p>
            <a:pPr>
              <a:spcAft>
                <a:spcPts val="400"/>
              </a:spcAft>
              <a:defRPr sz="1600">
                <a:solidFill>
                  <a:srgbClr val="222222"/>
                </a:solidFill>
                <a:latin typeface="Calibri"/>
              </a:defRPr>
            </a:pPr>
            <a:r>
              <a:t>Dissipation:  viscous damping via (η_φ, ηᵢ)</a:t>
            </a:r>
          </a:p>
          <a:p>
            <a:pPr>
              <a:spcAft>
                <a:spcPts val="400"/>
              </a:spcAft>
              <a:defRPr sz="1600">
                <a:solidFill>
                  <a:srgbClr val="222222"/>
                </a:solidFill>
                <a:latin typeface="Calibri"/>
              </a:defRPr>
            </a:pPr>
            <a:r>
              <a:t>Constraint:  Lagrange multiplier γ enforces volume conservation</a:t>
            </a:r>
          </a:p>
          <a:p>
            <a:pPr>
              <a:spcAft>
                <a:spcPts val="400"/>
              </a:spcAft>
              <a:defRPr sz="1600">
                <a:solidFill>
                  <a:srgbClr val="222222"/>
                </a:solidFill>
                <a:latin typeface="Calibri"/>
              </a:defRPr>
            </a:pPr>
            <a:r>
              <a:t>Interaction:  nutrients c* × matrix A × (φ⊙ψ) inter-species coupling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6576"/>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
            <a:ext cx="10728655" cy="685800"/>
          </a:xfrm>
          <a:prstGeom prst="rect">
            <a:avLst/>
          </a:prstGeom>
          <a:noFill/>
        </p:spPr>
        <p:txBody>
          <a:bodyPr wrap="square">
            <a:spAutoFit/>
          </a:bodyPr>
          <a:lstStyle/>
          <a:p>
            <a:pPr>
              <a:defRPr sz="3000" b="1">
                <a:solidFill>
                  <a:srgbClr val="FFFFFF"/>
                </a:solidFill>
                <a:latin typeface="Calibri"/>
              </a:defRPr>
            </a:pPr>
            <a:r>
              <a:t>Residual Equations — φᵢ</a:t>
            </a:r>
          </a:p>
        </p:txBody>
      </p:sp>
      <p:sp>
        <p:nvSpPr>
          <p:cNvPr id="5" name="TextBox 4"/>
          <p:cNvSpPr txBox="1"/>
          <p:nvPr/>
        </p:nvSpPr>
        <p:spPr>
          <a:xfrm>
            <a:off x="11277295" y="6446520"/>
            <a:ext cx="548640" cy="274320"/>
          </a:xfrm>
          <a:prstGeom prst="rect">
            <a:avLst/>
          </a:prstGeom>
          <a:noFill/>
        </p:spPr>
        <p:txBody>
          <a:bodyPr wrap="none">
            <a:spAutoFit/>
          </a:bodyPr>
          <a:lstStyle/>
          <a:p>
            <a:pPr algn="r">
              <a:defRPr sz="1200">
                <a:solidFill>
                  <a:srgbClr val="666666"/>
                </a:solidFill>
                <a:latin typeface="Calibri"/>
              </a:defRPr>
            </a:pPr>
            <a:r>
              <a:t>9</a:t>
            </a:r>
          </a:p>
        </p:txBody>
      </p:sp>
      <p:sp>
        <p:nvSpPr>
          <p:cNvPr id="6" name="TextBox 5"/>
          <p:cNvSpPr txBox="1"/>
          <p:nvPr/>
        </p:nvSpPr>
        <p:spPr>
          <a:xfrm>
            <a:off x="731520" y="1280160"/>
            <a:ext cx="10728655" cy="457200"/>
          </a:xfrm>
          <a:prstGeom prst="rect">
            <a:avLst/>
          </a:prstGeom>
          <a:noFill/>
        </p:spPr>
        <p:txBody>
          <a:bodyPr wrap="square">
            <a:spAutoFit/>
          </a:bodyPr>
          <a:lstStyle/>
          <a:p>
            <a:pPr algn="l">
              <a:defRPr sz="2000" b="0">
                <a:solidFill>
                  <a:srgbClr val="222222"/>
                </a:solidFill>
                <a:latin typeface="Calibri"/>
              </a:defRPr>
            </a:pPr>
            <a:r>
              <a:t>Residual equation for the volume fraction φᵢ :</a:t>
            </a:r>
          </a:p>
        </p:txBody>
      </p:sp>
      <p:pic>
        <p:nvPicPr>
          <p:cNvPr id="7" name="Picture 6" descr="eq_1c74bdb78520.png"/>
          <p:cNvPicPr>
            <a:picLocks noChangeAspect="1"/>
          </p:cNvPicPr>
          <p:nvPr/>
        </p:nvPicPr>
        <p:blipFill>
          <a:blip r:embed="rId2"/>
          <a:stretch>
            <a:fillRect/>
          </a:stretch>
        </p:blipFill>
        <p:spPr>
          <a:xfrm>
            <a:off x="4797399" y="1810512"/>
            <a:ext cx="2596896" cy="795528"/>
          </a:xfrm>
          <a:prstGeom prst="rect">
            <a:avLst/>
          </a:prstGeom>
        </p:spPr>
      </p:pic>
      <p:pic>
        <p:nvPicPr>
          <p:cNvPr id="8" name="Picture 7" descr="eq_2b32786fa757.png"/>
          <p:cNvPicPr>
            <a:picLocks noChangeAspect="1"/>
          </p:cNvPicPr>
          <p:nvPr/>
        </p:nvPicPr>
        <p:blipFill>
          <a:blip r:embed="rId3"/>
          <a:stretch>
            <a:fillRect/>
          </a:stretch>
        </p:blipFill>
        <p:spPr>
          <a:xfrm>
            <a:off x="3648303" y="2679192"/>
            <a:ext cx="4895088" cy="740664"/>
          </a:xfrm>
          <a:prstGeom prst="rect">
            <a:avLst/>
          </a:prstGeom>
        </p:spPr>
      </p:pic>
      <p:pic>
        <p:nvPicPr>
          <p:cNvPr id="9" name="Picture 8" descr="eq_2babdc6ced24.png"/>
          <p:cNvPicPr>
            <a:picLocks noChangeAspect="1"/>
          </p:cNvPicPr>
          <p:nvPr/>
        </p:nvPicPr>
        <p:blipFill>
          <a:blip r:embed="rId4"/>
          <a:stretch>
            <a:fillRect/>
          </a:stretch>
        </p:blipFill>
        <p:spPr>
          <a:xfrm>
            <a:off x="4771491" y="3493008"/>
            <a:ext cx="2648712" cy="752856"/>
          </a:xfrm>
          <a:prstGeom prst="rect">
            <a:avLst/>
          </a:prstGeom>
        </p:spPr>
      </p:pic>
      <p:sp>
        <p:nvSpPr>
          <p:cNvPr id="10" name="TextBox 9"/>
          <p:cNvSpPr txBox="1"/>
          <p:nvPr/>
        </p:nvSpPr>
        <p:spPr>
          <a:xfrm>
            <a:off x="731520" y="4428744"/>
            <a:ext cx="10728655" cy="502920"/>
          </a:xfrm>
          <a:prstGeom prst="rect">
            <a:avLst/>
          </a:prstGeom>
          <a:noFill/>
        </p:spPr>
        <p:txBody>
          <a:bodyPr wrap="square">
            <a:spAutoFit/>
          </a:bodyPr>
          <a:lstStyle/>
          <a:p>
            <a:pPr algn="l">
              <a:defRPr sz="2200" b="1">
                <a:solidFill>
                  <a:srgbClr val="0072CE"/>
                </a:solidFill>
                <a:latin typeface="Calibri"/>
              </a:defRPr>
            </a:pPr>
            <a:r>
              <a:t>Physical interpretation of each term</a:t>
            </a:r>
          </a:p>
        </p:txBody>
      </p:sp>
      <p:sp>
        <p:nvSpPr>
          <p:cNvPr id="11" name="TextBox 10"/>
          <p:cNvSpPr txBox="1"/>
          <p:nvPr/>
        </p:nvSpPr>
        <p:spPr>
          <a:xfrm>
            <a:off x="731520" y="4977384"/>
            <a:ext cx="10728655" cy="1295400"/>
          </a:xfrm>
          <a:prstGeom prst="rect">
            <a:avLst/>
          </a:prstGeom>
          <a:noFill/>
        </p:spPr>
        <p:txBody>
          <a:bodyPr wrap="square">
            <a:spAutoFit/>
          </a:bodyPr>
          <a:lstStyle/>
          <a:p>
            <a:pPr>
              <a:spcAft>
                <a:spcPts val="400"/>
              </a:spcAft>
              <a:defRPr sz="1700">
                <a:solidFill>
                  <a:srgbClr val="222222"/>
                </a:solidFill>
                <a:latin typeface="Calibri"/>
              </a:defRPr>
            </a:pPr>
            <a:r>
              <a:t>Term 1:  Penalty barrier ∂Ψ_p/∂φᵢ — ensures ξ ∈ (0,1)</a:t>
            </a:r>
          </a:p>
          <a:p>
            <a:pPr>
              <a:spcAft>
                <a:spcPts val="400"/>
              </a:spcAft>
              <a:defRPr sz="1700">
                <a:solidFill>
                  <a:srgbClr val="222222"/>
                </a:solidFill>
                <a:latin typeface="Calibri"/>
              </a:defRPr>
            </a:pPr>
            <a:r>
              <a:t>Term 2:  Dissipation — Lagrange multiplier γ and viscosity (η_φ, ηᵢ)</a:t>
            </a:r>
          </a:p>
          <a:p>
            <a:pPr>
              <a:spcAft>
                <a:spcPts val="400"/>
              </a:spcAft>
              <a:defRPr sz="1700">
                <a:solidFill>
                  <a:srgbClr val="222222"/>
                </a:solidFill>
                <a:latin typeface="Calibri"/>
              </a:defRPr>
            </a:pPr>
            <a:r>
              <a:t>Term 3:  Inter-species interaction — nutrients c* and matrix A (φ⊙ψ)</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6576"/>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
            <a:ext cx="10728655" cy="685800"/>
          </a:xfrm>
          <a:prstGeom prst="rect">
            <a:avLst/>
          </a:prstGeom>
          <a:noFill/>
        </p:spPr>
        <p:txBody>
          <a:bodyPr wrap="square">
            <a:spAutoFit/>
          </a:bodyPr>
          <a:lstStyle/>
          <a:p>
            <a:pPr>
              <a:defRPr sz="3000" b="1">
                <a:solidFill>
                  <a:srgbClr val="FFFFFF"/>
                </a:solidFill>
                <a:latin typeface="Calibri"/>
              </a:defRPr>
            </a:pPr>
            <a:r>
              <a:t>Residual Equations — ψᵢ, γ</a:t>
            </a:r>
          </a:p>
        </p:txBody>
      </p:sp>
      <p:sp>
        <p:nvSpPr>
          <p:cNvPr id="5" name="TextBox 4"/>
          <p:cNvSpPr txBox="1"/>
          <p:nvPr/>
        </p:nvSpPr>
        <p:spPr>
          <a:xfrm>
            <a:off x="11277295" y="6446520"/>
            <a:ext cx="548640" cy="274320"/>
          </a:xfrm>
          <a:prstGeom prst="rect">
            <a:avLst/>
          </a:prstGeom>
          <a:noFill/>
        </p:spPr>
        <p:txBody>
          <a:bodyPr wrap="none">
            <a:spAutoFit/>
          </a:bodyPr>
          <a:lstStyle/>
          <a:p>
            <a:pPr algn="r">
              <a:defRPr sz="1200">
                <a:solidFill>
                  <a:srgbClr val="666666"/>
                </a:solidFill>
                <a:latin typeface="Calibri"/>
              </a:defRPr>
            </a:pPr>
            <a:r>
              <a:t>10</a:t>
            </a:r>
          </a:p>
        </p:txBody>
      </p:sp>
      <p:sp>
        <p:nvSpPr>
          <p:cNvPr id="6" name="TextBox 5"/>
          <p:cNvSpPr txBox="1"/>
          <p:nvPr/>
        </p:nvSpPr>
        <p:spPr>
          <a:xfrm>
            <a:off x="731520" y="1280160"/>
            <a:ext cx="10728655" cy="457200"/>
          </a:xfrm>
          <a:prstGeom prst="rect">
            <a:avLst/>
          </a:prstGeom>
          <a:noFill/>
        </p:spPr>
        <p:txBody>
          <a:bodyPr wrap="square">
            <a:spAutoFit/>
          </a:bodyPr>
          <a:lstStyle/>
          <a:p>
            <a:pPr algn="l">
              <a:defRPr sz="2000" b="1">
                <a:solidFill>
                  <a:srgbClr val="222222"/>
                </a:solidFill>
                <a:latin typeface="Calibri"/>
              </a:defRPr>
            </a:pPr>
            <a:r>
              <a:t>Residual for ψᵢ</a:t>
            </a:r>
          </a:p>
        </p:txBody>
      </p:sp>
      <p:pic>
        <p:nvPicPr>
          <p:cNvPr id="7" name="Picture 6" descr="eq_5fb3e22a9be1.png"/>
          <p:cNvPicPr>
            <a:picLocks noChangeAspect="1"/>
          </p:cNvPicPr>
          <p:nvPr/>
        </p:nvPicPr>
        <p:blipFill>
          <a:blip r:embed="rId2"/>
          <a:stretch>
            <a:fillRect/>
          </a:stretch>
        </p:blipFill>
        <p:spPr>
          <a:xfrm>
            <a:off x="3399891" y="1810512"/>
            <a:ext cx="5391912" cy="719328"/>
          </a:xfrm>
          <a:prstGeom prst="rect">
            <a:avLst/>
          </a:prstGeom>
        </p:spPr>
      </p:pic>
      <p:pic>
        <p:nvPicPr>
          <p:cNvPr id="8" name="Picture 7" descr="eq_d3c59494613e.png"/>
          <p:cNvPicPr>
            <a:picLocks noChangeAspect="1"/>
          </p:cNvPicPr>
          <p:nvPr/>
        </p:nvPicPr>
        <p:blipFill>
          <a:blip r:embed="rId3"/>
          <a:stretch>
            <a:fillRect/>
          </a:stretch>
        </p:blipFill>
        <p:spPr>
          <a:xfrm>
            <a:off x="3722979" y="2602992"/>
            <a:ext cx="4745736" cy="697992"/>
          </a:xfrm>
          <a:prstGeom prst="rect">
            <a:avLst/>
          </a:prstGeom>
        </p:spPr>
      </p:pic>
      <p:sp>
        <p:nvSpPr>
          <p:cNvPr id="9" name="TextBox 8"/>
          <p:cNvSpPr txBox="1"/>
          <p:nvPr/>
        </p:nvSpPr>
        <p:spPr>
          <a:xfrm>
            <a:off x="731520" y="3438144"/>
            <a:ext cx="10728655" cy="1295400"/>
          </a:xfrm>
          <a:prstGeom prst="rect">
            <a:avLst/>
          </a:prstGeom>
          <a:noFill/>
        </p:spPr>
        <p:txBody>
          <a:bodyPr wrap="square">
            <a:spAutoFit/>
          </a:bodyPr>
          <a:lstStyle/>
          <a:p>
            <a:pPr>
              <a:spcAft>
                <a:spcPts val="400"/>
              </a:spcAft>
              <a:defRPr sz="1700">
                <a:solidFill>
                  <a:srgbClr val="222222"/>
                </a:solidFill>
                <a:latin typeface="Calibri"/>
              </a:defRPr>
            </a:pPr>
            <a:r>
              <a:t>Terms 1–2:  Penalty barrier ∂Ψ_p/∂ψᵢ — ensures ψ ∈ (0,1)</a:t>
            </a:r>
          </a:p>
          <a:p>
            <a:pPr>
              <a:spcAft>
                <a:spcPts val="400"/>
              </a:spcAft>
              <a:defRPr sz="1700">
                <a:solidFill>
                  <a:srgbClr val="222222"/>
                </a:solidFill>
                <a:latin typeface="Calibri"/>
              </a:defRPr>
            </a:pPr>
            <a:r>
              <a:t>Term 3:  Decay — antibiotics α* and rate bᵢ reduce viability</a:t>
            </a:r>
          </a:p>
          <a:p>
            <a:pPr>
              <a:spcAft>
                <a:spcPts val="400"/>
              </a:spcAft>
              <a:defRPr sz="1700">
                <a:solidFill>
                  <a:srgbClr val="222222"/>
                </a:solidFill>
                <a:latin typeface="Calibri"/>
              </a:defRPr>
            </a:pPr>
            <a:r>
              <a:t>Terms 4–5:  Coupling with φᵢ + nutrients c* inter-species interaction via A</a:t>
            </a:r>
          </a:p>
        </p:txBody>
      </p:sp>
      <p:sp>
        <p:nvSpPr>
          <p:cNvPr id="10" name="TextBox 9"/>
          <p:cNvSpPr txBox="1"/>
          <p:nvPr/>
        </p:nvSpPr>
        <p:spPr>
          <a:xfrm>
            <a:off x="731520" y="4870704"/>
            <a:ext cx="10728655" cy="457200"/>
          </a:xfrm>
          <a:prstGeom prst="rect">
            <a:avLst/>
          </a:prstGeom>
          <a:noFill/>
        </p:spPr>
        <p:txBody>
          <a:bodyPr wrap="square">
            <a:spAutoFit/>
          </a:bodyPr>
          <a:lstStyle/>
          <a:p>
            <a:pPr algn="l">
              <a:defRPr sz="2000" b="1">
                <a:solidFill>
                  <a:srgbClr val="222222"/>
                </a:solidFill>
                <a:latin typeface="Calibri"/>
              </a:defRPr>
            </a:pPr>
            <a:r>
              <a:t>Volume conservation constraint residual</a:t>
            </a:r>
          </a:p>
        </p:txBody>
      </p:sp>
      <p:pic>
        <p:nvPicPr>
          <p:cNvPr id="11" name="Picture 10" descr="eq_20dd6b37ca73.png"/>
          <p:cNvPicPr>
            <a:picLocks noChangeAspect="1"/>
          </p:cNvPicPr>
          <p:nvPr/>
        </p:nvPicPr>
        <p:blipFill>
          <a:blip r:embed="rId4"/>
          <a:stretch>
            <a:fillRect/>
          </a:stretch>
        </p:blipFill>
        <p:spPr>
          <a:xfrm>
            <a:off x="4655667" y="5401056"/>
            <a:ext cx="2880360" cy="94488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6576"/>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
            <a:ext cx="10728655" cy="685800"/>
          </a:xfrm>
          <a:prstGeom prst="rect">
            <a:avLst/>
          </a:prstGeom>
          <a:noFill/>
        </p:spPr>
        <p:txBody>
          <a:bodyPr wrap="square">
            <a:spAutoFit/>
          </a:bodyPr>
          <a:lstStyle/>
          <a:p>
            <a:pPr>
              <a:defRPr sz="3000" b="1">
                <a:solidFill>
                  <a:srgbClr val="FFFFFF"/>
                </a:solidFill>
                <a:latin typeface="Calibri"/>
              </a:defRPr>
            </a:pPr>
            <a:r>
              <a:t>Parameters — Interaction Matrix A and Decay Matrix B</a:t>
            </a:r>
          </a:p>
        </p:txBody>
      </p:sp>
      <p:sp>
        <p:nvSpPr>
          <p:cNvPr id="5" name="TextBox 4"/>
          <p:cNvSpPr txBox="1"/>
          <p:nvPr/>
        </p:nvSpPr>
        <p:spPr>
          <a:xfrm>
            <a:off x="11277295" y="6446520"/>
            <a:ext cx="548640" cy="274320"/>
          </a:xfrm>
          <a:prstGeom prst="rect">
            <a:avLst/>
          </a:prstGeom>
          <a:noFill/>
        </p:spPr>
        <p:txBody>
          <a:bodyPr wrap="none">
            <a:spAutoFit/>
          </a:bodyPr>
          <a:lstStyle/>
          <a:p>
            <a:pPr algn="r">
              <a:defRPr sz="1200">
                <a:solidFill>
                  <a:srgbClr val="666666"/>
                </a:solidFill>
                <a:latin typeface="Calibri"/>
              </a:defRPr>
            </a:pPr>
            <a:r>
              <a:t>11</a:t>
            </a:r>
          </a:p>
        </p:txBody>
      </p:sp>
      <p:sp>
        <p:nvSpPr>
          <p:cNvPr id="6" name="TextBox 5"/>
          <p:cNvSpPr txBox="1"/>
          <p:nvPr/>
        </p:nvSpPr>
        <p:spPr>
          <a:xfrm>
            <a:off x="731520" y="1280160"/>
            <a:ext cx="10728655" cy="457200"/>
          </a:xfrm>
          <a:prstGeom prst="rect">
            <a:avLst/>
          </a:prstGeom>
          <a:noFill/>
        </p:spPr>
        <p:txBody>
          <a:bodyPr wrap="square">
            <a:spAutoFit/>
          </a:bodyPr>
          <a:lstStyle/>
          <a:p>
            <a:pPr algn="l">
              <a:defRPr sz="2000" b="1">
                <a:solidFill>
                  <a:srgbClr val="222222"/>
                </a:solidFill>
                <a:latin typeface="Calibri"/>
              </a:defRPr>
            </a:pPr>
            <a:r>
              <a:t>Parameter vector  θ ∈ R²⁰ (5-block structure)</a:t>
            </a:r>
          </a:p>
        </p:txBody>
      </p:sp>
      <p:pic>
        <p:nvPicPr>
          <p:cNvPr id="7" name="Picture 6" descr="eq_97c353da4619.png"/>
          <p:cNvPicPr>
            <a:picLocks noChangeAspect="1"/>
          </p:cNvPicPr>
          <p:nvPr/>
        </p:nvPicPr>
        <p:blipFill>
          <a:blip r:embed="rId2"/>
          <a:stretch>
            <a:fillRect/>
          </a:stretch>
        </p:blipFill>
        <p:spPr>
          <a:xfrm>
            <a:off x="2070964" y="1810512"/>
            <a:ext cx="8049767" cy="505968"/>
          </a:xfrm>
          <a:prstGeom prst="rect">
            <a:avLst/>
          </a:prstGeom>
        </p:spPr>
      </p:pic>
      <p:pic>
        <p:nvPicPr>
          <p:cNvPr id="8" name="Picture 7" descr="eq_219dd82ce88d.png"/>
          <p:cNvPicPr>
            <a:picLocks noChangeAspect="1"/>
          </p:cNvPicPr>
          <p:nvPr/>
        </p:nvPicPr>
        <p:blipFill>
          <a:blip r:embed="rId3"/>
          <a:stretch>
            <a:fillRect/>
          </a:stretch>
        </p:blipFill>
        <p:spPr>
          <a:xfrm>
            <a:off x="1005840" y="2499360"/>
            <a:ext cx="3078480" cy="1591056"/>
          </a:xfrm>
          <a:prstGeom prst="rect">
            <a:avLst/>
          </a:prstGeom>
        </p:spPr>
      </p:pic>
      <p:pic>
        <p:nvPicPr>
          <p:cNvPr id="9" name="Picture 8" descr="eq_700328b8cef0.png"/>
          <p:cNvPicPr>
            <a:picLocks noChangeAspect="1"/>
          </p:cNvPicPr>
          <p:nvPr/>
        </p:nvPicPr>
        <p:blipFill>
          <a:blip r:embed="rId4"/>
          <a:stretch>
            <a:fillRect/>
          </a:stretch>
        </p:blipFill>
        <p:spPr>
          <a:xfrm>
            <a:off x="7168713" y="3133344"/>
            <a:ext cx="2807208" cy="323088"/>
          </a:xfrm>
          <a:prstGeom prst="rect">
            <a:avLst/>
          </a:prstGeom>
        </p:spPr>
      </p:pic>
      <p:sp>
        <p:nvSpPr>
          <p:cNvPr id="10" name="TextBox 9"/>
          <p:cNvSpPr txBox="1"/>
          <p:nvPr/>
        </p:nvSpPr>
        <p:spPr>
          <a:xfrm>
            <a:off x="731520" y="4319016"/>
            <a:ext cx="10728655" cy="1727200"/>
          </a:xfrm>
          <a:prstGeom prst="rect">
            <a:avLst/>
          </a:prstGeom>
          <a:noFill/>
        </p:spPr>
        <p:txBody>
          <a:bodyPr wrap="square">
            <a:spAutoFit/>
          </a:bodyPr>
          <a:lstStyle/>
          <a:p>
            <a:pPr>
              <a:spcAft>
                <a:spcPts val="400"/>
              </a:spcAft>
              <a:defRPr sz="1700">
                <a:solidFill>
                  <a:srgbClr val="222222"/>
                </a:solidFill>
                <a:latin typeface="Calibri"/>
              </a:defRPr>
            </a:pPr>
            <a:r>
              <a:t>A is symmetric (aᵢⱼ = aⱼᵢ):  15 independent upper-triangular entries</a:t>
            </a:r>
          </a:p>
          <a:p>
            <a:pPr>
              <a:spcAft>
                <a:spcPts val="400"/>
              </a:spcAft>
              <a:defRPr sz="1700">
                <a:solidFill>
                  <a:srgbClr val="222222"/>
                </a:solidFill>
                <a:latin typeface="Calibri"/>
              </a:defRPr>
            </a:pPr>
            <a:r>
              <a:t>aᵢⱼ &gt; 0: cooperation between species i and j;  aᵢⱼ &lt; 0: competition</a:t>
            </a:r>
          </a:p>
          <a:p>
            <a:pPr>
              <a:spcAft>
                <a:spcPts val="400"/>
              </a:spcAft>
              <a:defRPr sz="1700">
                <a:solidFill>
                  <a:srgbClr val="222222"/>
                </a:solidFill>
                <a:latin typeface="Calibri"/>
              </a:defRPr>
            </a:pPr>
            <a:r>
              <a:t>B is diagonal:  decay rate bᵢ for each species → 5 parameters</a:t>
            </a:r>
          </a:p>
          <a:p>
            <a:pPr>
              <a:spcAft>
                <a:spcPts val="400"/>
              </a:spcAft>
              <a:defRPr sz="1700">
                <a:solidFill>
                  <a:srgbClr val="222222"/>
                </a:solidFill>
                <a:latin typeface="Calibri"/>
              </a:defRPr>
            </a:pPr>
            <a:r>
              <a:t>Total: 20 parameters organized in 5 blocks (M1–M5)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6576"/>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
            <a:ext cx="10728655" cy="685800"/>
          </a:xfrm>
          <a:prstGeom prst="rect">
            <a:avLst/>
          </a:prstGeom>
          <a:noFill/>
        </p:spPr>
        <p:txBody>
          <a:bodyPr wrap="square">
            <a:spAutoFit/>
          </a:bodyPr>
          <a:lstStyle/>
          <a:p>
            <a:pPr>
              <a:defRPr sz="3000" b="1">
                <a:solidFill>
                  <a:srgbClr val="FFFFFF"/>
                </a:solidFill>
                <a:latin typeface="Calibri"/>
              </a:defRPr>
            </a:pPr>
            <a:r>
              <a:t>Biological Constraints and Parameter Reduction</a:t>
            </a:r>
          </a:p>
        </p:txBody>
      </p:sp>
      <p:sp>
        <p:nvSpPr>
          <p:cNvPr id="5" name="TextBox 4"/>
          <p:cNvSpPr txBox="1"/>
          <p:nvPr/>
        </p:nvSpPr>
        <p:spPr>
          <a:xfrm>
            <a:off x="11277295" y="6446520"/>
            <a:ext cx="548640" cy="274320"/>
          </a:xfrm>
          <a:prstGeom prst="rect">
            <a:avLst/>
          </a:prstGeom>
          <a:noFill/>
        </p:spPr>
        <p:txBody>
          <a:bodyPr wrap="none">
            <a:spAutoFit/>
          </a:bodyPr>
          <a:lstStyle/>
          <a:p>
            <a:pPr algn="r">
              <a:defRPr sz="1200">
                <a:solidFill>
                  <a:srgbClr val="666666"/>
                </a:solidFill>
                <a:latin typeface="Calibri"/>
              </a:defRPr>
            </a:pPr>
            <a:r>
              <a:t>12</a:t>
            </a:r>
          </a:p>
        </p:txBody>
      </p:sp>
      <p:sp>
        <p:nvSpPr>
          <p:cNvPr id="6" name="TextBox 5"/>
          <p:cNvSpPr txBox="1"/>
          <p:nvPr/>
        </p:nvSpPr>
        <p:spPr>
          <a:xfrm>
            <a:off x="731520" y="1280160"/>
            <a:ext cx="10728655" cy="502920"/>
          </a:xfrm>
          <a:prstGeom prst="rect">
            <a:avLst/>
          </a:prstGeom>
          <a:noFill/>
        </p:spPr>
        <p:txBody>
          <a:bodyPr wrap="square">
            <a:spAutoFit/>
          </a:bodyPr>
          <a:lstStyle/>
          <a:p>
            <a:pPr algn="l">
              <a:defRPr sz="2200" b="1">
                <a:solidFill>
                  <a:srgbClr val="0072CE"/>
                </a:solidFill>
                <a:latin typeface="Calibri"/>
              </a:defRPr>
            </a:pPr>
            <a:r>
              <a:t>Experiment-based parameter locking (Nishioka Algorithm)</a:t>
            </a:r>
          </a:p>
        </p:txBody>
      </p:sp>
      <p:sp>
        <p:nvSpPr>
          <p:cNvPr id="7" name="TextBox 6"/>
          <p:cNvSpPr txBox="1"/>
          <p:nvPr/>
        </p:nvSpPr>
        <p:spPr>
          <a:xfrm>
            <a:off x="731520" y="1828800"/>
            <a:ext cx="10728655" cy="411480"/>
          </a:xfrm>
          <a:prstGeom prst="rect">
            <a:avLst/>
          </a:prstGeom>
          <a:noFill/>
        </p:spPr>
        <p:txBody>
          <a:bodyPr wrap="square">
            <a:spAutoFit/>
          </a:bodyPr>
          <a:lstStyle/>
          <a:p>
            <a:pPr algn="l">
              <a:defRPr sz="1800" b="0">
                <a:solidFill>
                  <a:srgbClr val="222222"/>
                </a:solidFill>
                <a:latin typeface="Calibri"/>
              </a:defRPr>
            </a:pPr>
            <a:r>
              <a:t>Lock 5 interaction parameters to zero where no interaction was observed (Heine et al., Fig. 4C):</a:t>
            </a:r>
          </a:p>
        </p:txBody>
      </p:sp>
      <p:pic>
        <p:nvPicPr>
          <p:cNvPr id="8" name="Picture 7" descr="eq_4c49a07ece3e.png"/>
          <p:cNvPicPr>
            <a:picLocks noChangeAspect="1"/>
          </p:cNvPicPr>
          <p:nvPr/>
        </p:nvPicPr>
        <p:blipFill>
          <a:blip r:embed="rId2"/>
          <a:stretch>
            <a:fillRect/>
          </a:stretch>
        </p:blipFill>
        <p:spPr>
          <a:xfrm>
            <a:off x="2810103" y="2331720"/>
            <a:ext cx="6571488" cy="326136"/>
          </a:xfrm>
          <a:prstGeom prst="rect">
            <a:avLst/>
          </a:prstGeom>
        </p:spPr>
      </p:pic>
      <p:sp>
        <p:nvSpPr>
          <p:cNvPr id="9" name="TextBox 8"/>
          <p:cNvSpPr txBox="1"/>
          <p:nvPr/>
        </p:nvSpPr>
        <p:spPr>
          <a:xfrm>
            <a:off x="731520" y="2749296"/>
            <a:ext cx="10728655" cy="2032000"/>
          </a:xfrm>
          <a:prstGeom prst="rect">
            <a:avLst/>
          </a:prstGeom>
          <a:noFill/>
        </p:spPr>
        <p:txBody>
          <a:bodyPr wrap="square">
            <a:spAutoFit/>
          </a:bodyPr>
          <a:lstStyle/>
          <a:p>
            <a:pPr>
              <a:spcAft>
                <a:spcPts val="400"/>
              </a:spcAft>
              <a:defRPr sz="1600">
                <a:solidFill>
                  <a:srgbClr val="222222"/>
                </a:solidFill>
                <a:latin typeface="Calibri"/>
              </a:defRPr>
            </a:pPr>
            <a:r>
              <a:t>a₃₄ = 0:  Vei ↔ F.n — no direct metabolic pathway</a:t>
            </a:r>
          </a:p>
          <a:p>
            <a:pPr>
              <a:spcAft>
                <a:spcPts val="400"/>
              </a:spcAft>
              <a:defRPr sz="1600">
                <a:solidFill>
                  <a:srgbClr val="222222"/>
                </a:solidFill>
                <a:latin typeface="Calibri"/>
              </a:defRPr>
            </a:pPr>
            <a:r>
              <a:t>a₂₃ = 0:  A.n ↔ Vei — no direct metabolic link</a:t>
            </a:r>
          </a:p>
          <a:p>
            <a:pPr>
              <a:spcAft>
                <a:spcPts val="400"/>
              </a:spcAft>
              <a:defRPr sz="1600">
                <a:solidFill>
                  <a:srgbClr val="222222"/>
                </a:solidFill>
                <a:latin typeface="Calibri"/>
              </a:defRPr>
            </a:pPr>
            <a:r>
              <a:t>a₂₄ = 0:  A.n ↔ F.n — no direct interaction</a:t>
            </a:r>
          </a:p>
          <a:p>
            <a:pPr>
              <a:spcAft>
                <a:spcPts val="400"/>
              </a:spcAft>
              <a:defRPr sz="1600">
                <a:solidFill>
                  <a:srgbClr val="222222"/>
                </a:solidFill>
                <a:latin typeface="Calibri"/>
              </a:defRPr>
            </a:pPr>
            <a:r>
              <a:t>a₁₅ = 0:  S.o ↔ P.g — no direct interaction</a:t>
            </a:r>
          </a:p>
          <a:p>
            <a:pPr>
              <a:spcAft>
                <a:spcPts val="400"/>
              </a:spcAft>
              <a:defRPr sz="1600">
                <a:solidFill>
                  <a:srgbClr val="222222"/>
                </a:solidFill>
                <a:latin typeface="Calibri"/>
              </a:defRPr>
            </a:pPr>
            <a:r>
              <a:t>a₂₅ = 0:  A.n ↔ P.g — no direct interaction</a:t>
            </a:r>
          </a:p>
        </p:txBody>
      </p:sp>
      <p:sp>
        <p:nvSpPr>
          <p:cNvPr id="10" name="TextBox 9"/>
          <p:cNvSpPr txBox="1"/>
          <p:nvPr/>
        </p:nvSpPr>
        <p:spPr>
          <a:xfrm>
            <a:off x="731520" y="4872736"/>
            <a:ext cx="10728655" cy="502920"/>
          </a:xfrm>
          <a:prstGeom prst="rect">
            <a:avLst/>
          </a:prstGeom>
          <a:noFill/>
        </p:spPr>
        <p:txBody>
          <a:bodyPr wrap="square">
            <a:spAutoFit/>
          </a:bodyPr>
          <a:lstStyle/>
          <a:p>
            <a:pPr algn="l">
              <a:defRPr sz="2200" b="1">
                <a:solidFill>
                  <a:srgbClr val="0072CE"/>
                </a:solidFill>
                <a:latin typeface="Calibri"/>
              </a:defRPr>
            </a:pPr>
            <a:r>
              <a:t>Effective parameter dimension</a:t>
            </a:r>
          </a:p>
        </p:txBody>
      </p:sp>
      <p:pic>
        <p:nvPicPr>
          <p:cNvPr id="11" name="Picture 10" descr="eq_7ec1b0032ccc.png"/>
          <p:cNvPicPr>
            <a:picLocks noChangeAspect="1"/>
          </p:cNvPicPr>
          <p:nvPr/>
        </p:nvPicPr>
        <p:blipFill>
          <a:blip r:embed="rId3"/>
          <a:stretch>
            <a:fillRect/>
          </a:stretch>
        </p:blipFill>
        <p:spPr>
          <a:xfrm>
            <a:off x="4762347" y="5421376"/>
            <a:ext cx="2667000" cy="374904"/>
          </a:xfrm>
          <a:prstGeom prst="rect">
            <a:avLst/>
          </a:prstGeom>
        </p:spPr>
      </p:pic>
      <p:sp>
        <p:nvSpPr>
          <p:cNvPr id="12" name="TextBox 11"/>
          <p:cNvSpPr txBox="1"/>
          <p:nvPr/>
        </p:nvSpPr>
        <p:spPr>
          <a:xfrm>
            <a:off x="731520" y="5869432"/>
            <a:ext cx="10728655" cy="411480"/>
          </a:xfrm>
          <a:prstGeom prst="rect">
            <a:avLst/>
          </a:prstGeom>
          <a:noFill/>
        </p:spPr>
        <p:txBody>
          <a:bodyPr wrap="square">
            <a:spAutoFit/>
          </a:bodyPr>
          <a:lstStyle/>
          <a:p>
            <a:pPr algn="l">
              <a:defRPr sz="1800" b="0">
                <a:solidFill>
                  <a:srgbClr val="222222"/>
                </a:solidFill>
                <a:latin typeface="Calibri"/>
              </a:defRPr>
            </a:pPr>
            <a:r>
              <a:t>→  Improved sampling efficiency + exclusion of biologically implausible estimates.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6576"/>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
            <a:ext cx="10728655" cy="685800"/>
          </a:xfrm>
          <a:prstGeom prst="rect">
            <a:avLst/>
          </a:prstGeom>
          <a:noFill/>
        </p:spPr>
        <p:txBody>
          <a:bodyPr wrap="square">
            <a:spAutoFit/>
          </a:bodyPr>
          <a:lstStyle/>
          <a:p>
            <a:pPr>
              <a:defRPr sz="3000" b="1">
                <a:solidFill>
                  <a:srgbClr val="FFFFFF"/>
                </a:solidFill>
                <a:latin typeface="Calibri"/>
              </a:defRPr>
            </a:pPr>
            <a:r>
              <a:t>Hill-Function Gating Mechanism</a:t>
            </a:r>
          </a:p>
        </p:txBody>
      </p:sp>
      <p:sp>
        <p:nvSpPr>
          <p:cNvPr id="5" name="TextBox 4"/>
          <p:cNvSpPr txBox="1"/>
          <p:nvPr/>
        </p:nvSpPr>
        <p:spPr>
          <a:xfrm>
            <a:off x="11277295" y="6446520"/>
            <a:ext cx="548640" cy="274320"/>
          </a:xfrm>
          <a:prstGeom prst="rect">
            <a:avLst/>
          </a:prstGeom>
          <a:noFill/>
        </p:spPr>
        <p:txBody>
          <a:bodyPr wrap="none">
            <a:spAutoFit/>
          </a:bodyPr>
          <a:lstStyle/>
          <a:p>
            <a:pPr algn="r">
              <a:defRPr sz="1200">
                <a:solidFill>
                  <a:srgbClr val="666666"/>
                </a:solidFill>
                <a:latin typeface="Calibri"/>
              </a:defRPr>
            </a:pPr>
            <a:r>
              <a:t>13</a:t>
            </a:r>
          </a:p>
        </p:txBody>
      </p:sp>
      <p:sp>
        <p:nvSpPr>
          <p:cNvPr id="6" name="TextBox 5"/>
          <p:cNvSpPr txBox="1"/>
          <p:nvPr/>
        </p:nvSpPr>
        <p:spPr>
          <a:xfrm>
            <a:off x="731520" y="1280160"/>
            <a:ext cx="10728655" cy="457200"/>
          </a:xfrm>
          <a:prstGeom prst="rect">
            <a:avLst/>
          </a:prstGeom>
          <a:noFill/>
        </p:spPr>
        <p:txBody>
          <a:bodyPr wrap="square">
            <a:spAutoFit/>
          </a:bodyPr>
          <a:lstStyle/>
          <a:p>
            <a:pPr algn="l">
              <a:defRPr sz="2000" b="0">
                <a:solidFill>
                  <a:srgbClr val="222222"/>
                </a:solidFill>
                <a:latin typeface="Calibri"/>
              </a:defRPr>
            </a:pPr>
            <a:r>
              <a:t>F. nucleatum (species 4) acts as a bridging organism for P. gingivalis (species 5).</a:t>
            </a:r>
          </a:p>
        </p:txBody>
      </p:sp>
      <p:sp>
        <p:nvSpPr>
          <p:cNvPr id="7" name="TextBox 6"/>
          <p:cNvSpPr txBox="1"/>
          <p:nvPr/>
        </p:nvSpPr>
        <p:spPr>
          <a:xfrm>
            <a:off x="731520" y="1737360"/>
            <a:ext cx="10728655" cy="411480"/>
          </a:xfrm>
          <a:prstGeom prst="rect">
            <a:avLst/>
          </a:prstGeom>
          <a:noFill/>
        </p:spPr>
        <p:txBody>
          <a:bodyPr wrap="square">
            <a:spAutoFit/>
          </a:bodyPr>
          <a:lstStyle/>
          <a:p>
            <a:pPr algn="l">
              <a:defRPr sz="1800" b="0">
                <a:solidFill>
                  <a:srgbClr val="222222"/>
                </a:solidFill>
                <a:latin typeface="Calibri"/>
              </a:defRPr>
            </a:pPr>
            <a:r>
              <a:t>Without sufficient F. nucleatum, interactions of P. gingivalis are suppressed.</a:t>
            </a:r>
          </a:p>
        </p:txBody>
      </p:sp>
      <p:pic>
        <p:nvPicPr>
          <p:cNvPr id="8" name="Picture 7" descr="eq_a950cf341f6a.png"/>
          <p:cNvPicPr>
            <a:picLocks noChangeAspect="1"/>
          </p:cNvPicPr>
          <p:nvPr/>
        </p:nvPicPr>
        <p:blipFill>
          <a:blip r:embed="rId2"/>
          <a:stretch>
            <a:fillRect/>
          </a:stretch>
        </p:blipFill>
        <p:spPr>
          <a:xfrm>
            <a:off x="1005840" y="2366772"/>
            <a:ext cx="1313688" cy="295656"/>
          </a:xfrm>
          <a:prstGeom prst="rect">
            <a:avLst/>
          </a:prstGeom>
        </p:spPr>
      </p:pic>
      <p:sp>
        <p:nvSpPr>
          <p:cNvPr id="9" name="TextBox 8"/>
          <p:cNvSpPr txBox="1"/>
          <p:nvPr/>
        </p:nvSpPr>
        <p:spPr>
          <a:xfrm>
            <a:off x="3291840" y="2286000"/>
            <a:ext cx="8168335" cy="457200"/>
          </a:xfrm>
          <a:prstGeom prst="rect">
            <a:avLst/>
          </a:prstGeom>
          <a:noFill/>
        </p:spPr>
        <p:txBody>
          <a:bodyPr wrap="square" anchor="ctr">
            <a:spAutoFit/>
          </a:bodyPr>
          <a:lstStyle/>
          <a:p>
            <a:pPr>
              <a:defRPr sz="1800">
                <a:solidFill>
                  <a:srgbClr val="222222"/>
                </a:solidFill>
                <a:latin typeface="Calibri"/>
              </a:defRPr>
            </a:pPr>
            <a:r>
              <a:t>Effective biomass of F. nucleatum</a:t>
            </a:r>
          </a:p>
        </p:txBody>
      </p:sp>
      <p:sp>
        <p:nvSpPr>
          <p:cNvPr id="10" name="TextBox 9"/>
          <p:cNvSpPr txBox="1"/>
          <p:nvPr/>
        </p:nvSpPr>
        <p:spPr>
          <a:xfrm>
            <a:off x="731520" y="2862072"/>
            <a:ext cx="10728655" cy="457200"/>
          </a:xfrm>
          <a:prstGeom prst="rect">
            <a:avLst/>
          </a:prstGeom>
          <a:noFill/>
        </p:spPr>
        <p:txBody>
          <a:bodyPr wrap="square">
            <a:spAutoFit/>
          </a:bodyPr>
          <a:lstStyle/>
          <a:p>
            <a:pPr algn="l">
              <a:defRPr sz="2000" b="1">
                <a:solidFill>
                  <a:srgbClr val="222222"/>
                </a:solidFill>
                <a:latin typeface="Calibri"/>
              </a:defRPr>
            </a:pPr>
            <a:r>
              <a:t>Hill function</a:t>
            </a:r>
          </a:p>
        </p:txBody>
      </p:sp>
      <p:pic>
        <p:nvPicPr>
          <p:cNvPr id="11" name="Picture 10" descr="eq_33df1805e53f.png"/>
          <p:cNvPicPr>
            <a:picLocks noChangeAspect="1"/>
          </p:cNvPicPr>
          <p:nvPr/>
        </p:nvPicPr>
        <p:blipFill>
          <a:blip r:embed="rId3"/>
          <a:stretch>
            <a:fillRect/>
          </a:stretch>
        </p:blipFill>
        <p:spPr>
          <a:xfrm>
            <a:off x="4434687" y="3364992"/>
            <a:ext cx="3322320" cy="929640"/>
          </a:xfrm>
          <a:prstGeom prst="rect">
            <a:avLst/>
          </a:prstGeom>
        </p:spPr>
      </p:pic>
      <p:pic>
        <p:nvPicPr>
          <p:cNvPr id="12" name="Picture 11" descr="eq_c8c74adda883.png"/>
          <p:cNvPicPr>
            <a:picLocks noChangeAspect="1"/>
          </p:cNvPicPr>
          <p:nvPr/>
        </p:nvPicPr>
        <p:blipFill>
          <a:blip r:embed="rId4"/>
          <a:stretch>
            <a:fillRect/>
          </a:stretch>
        </p:blipFill>
        <p:spPr>
          <a:xfrm>
            <a:off x="1005840" y="4459224"/>
            <a:ext cx="478536" cy="274320"/>
          </a:xfrm>
          <a:prstGeom prst="rect">
            <a:avLst/>
          </a:prstGeom>
        </p:spPr>
      </p:pic>
      <p:sp>
        <p:nvSpPr>
          <p:cNvPr id="13" name="TextBox 12"/>
          <p:cNvSpPr txBox="1"/>
          <p:nvPr/>
        </p:nvSpPr>
        <p:spPr>
          <a:xfrm>
            <a:off x="3291840" y="4367784"/>
            <a:ext cx="8168335" cy="457200"/>
          </a:xfrm>
          <a:prstGeom prst="rect">
            <a:avLst/>
          </a:prstGeom>
          <a:noFill/>
        </p:spPr>
        <p:txBody>
          <a:bodyPr wrap="square" anchor="ctr">
            <a:spAutoFit/>
          </a:bodyPr>
          <a:lstStyle/>
          <a:p>
            <a:pPr>
              <a:defRPr sz="1800">
                <a:solidFill>
                  <a:srgbClr val="222222"/>
                </a:solidFill>
                <a:latin typeface="Calibri"/>
              </a:defRPr>
            </a:pPr>
            <a:r>
              <a:t>Half-saturation constant — concentration at 50% gating</a:t>
            </a:r>
          </a:p>
        </p:txBody>
      </p:sp>
      <p:pic>
        <p:nvPicPr>
          <p:cNvPr id="14" name="Picture 13" descr="eq_ae9fc2d7fcae.png"/>
          <p:cNvPicPr>
            <a:picLocks noChangeAspect="1"/>
          </p:cNvPicPr>
          <p:nvPr/>
        </p:nvPicPr>
        <p:blipFill>
          <a:blip r:embed="rId5"/>
          <a:stretch>
            <a:fillRect/>
          </a:stretch>
        </p:blipFill>
        <p:spPr>
          <a:xfrm>
            <a:off x="1005840" y="4943856"/>
            <a:ext cx="420624" cy="274320"/>
          </a:xfrm>
          <a:prstGeom prst="rect">
            <a:avLst/>
          </a:prstGeom>
        </p:spPr>
      </p:pic>
      <p:sp>
        <p:nvSpPr>
          <p:cNvPr id="15" name="TextBox 14"/>
          <p:cNvSpPr txBox="1"/>
          <p:nvPr/>
        </p:nvSpPr>
        <p:spPr>
          <a:xfrm>
            <a:off x="3291840" y="4852416"/>
            <a:ext cx="8168335" cy="457200"/>
          </a:xfrm>
          <a:prstGeom prst="rect">
            <a:avLst/>
          </a:prstGeom>
          <a:noFill/>
        </p:spPr>
        <p:txBody>
          <a:bodyPr wrap="square" anchor="ctr">
            <a:spAutoFit/>
          </a:bodyPr>
          <a:lstStyle/>
          <a:p>
            <a:pPr>
              <a:defRPr sz="1800">
                <a:solidFill>
                  <a:srgbClr val="222222"/>
                </a:solidFill>
                <a:latin typeface="Calibri"/>
              </a:defRPr>
            </a:pPr>
            <a:r>
              <a:t>Hill coefficient — controls steepness of the switch</a:t>
            </a:r>
          </a:p>
        </p:txBody>
      </p:sp>
      <p:sp>
        <p:nvSpPr>
          <p:cNvPr id="16" name="TextBox 15"/>
          <p:cNvSpPr txBox="1"/>
          <p:nvPr/>
        </p:nvSpPr>
        <p:spPr>
          <a:xfrm>
            <a:off x="731520" y="5428488"/>
            <a:ext cx="10728655" cy="457200"/>
          </a:xfrm>
          <a:prstGeom prst="rect">
            <a:avLst/>
          </a:prstGeom>
          <a:noFill/>
        </p:spPr>
        <p:txBody>
          <a:bodyPr wrap="square">
            <a:spAutoFit/>
          </a:bodyPr>
          <a:lstStyle/>
          <a:p>
            <a:pPr algn="l">
              <a:defRPr sz="2000" b="1">
                <a:solidFill>
                  <a:srgbClr val="222222"/>
                </a:solidFill>
                <a:latin typeface="Calibri"/>
              </a:defRPr>
            </a:pPr>
            <a:r>
              <a:t>Effective interaction</a:t>
            </a:r>
          </a:p>
        </p:txBody>
      </p:sp>
      <p:pic>
        <p:nvPicPr>
          <p:cNvPr id="17" name="Picture 16" descr="eq_19e12f6c8e43.png"/>
          <p:cNvPicPr>
            <a:picLocks noChangeAspect="1"/>
          </p:cNvPicPr>
          <p:nvPr/>
        </p:nvPicPr>
        <p:blipFill>
          <a:blip r:embed="rId6"/>
          <a:stretch>
            <a:fillRect/>
          </a:stretch>
        </p:blipFill>
        <p:spPr>
          <a:xfrm>
            <a:off x="3660495" y="5931408"/>
            <a:ext cx="4870704" cy="387096"/>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6576"/>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
            <a:ext cx="10728655" cy="685800"/>
          </a:xfrm>
          <a:prstGeom prst="rect">
            <a:avLst/>
          </a:prstGeom>
          <a:noFill/>
        </p:spPr>
        <p:txBody>
          <a:bodyPr wrap="square">
            <a:spAutoFit/>
          </a:bodyPr>
          <a:lstStyle/>
          <a:p>
            <a:pPr>
              <a:defRPr sz="3000" b="1">
                <a:solidFill>
                  <a:srgbClr val="FFFFFF"/>
                </a:solidFill>
                <a:latin typeface="Calibri"/>
              </a:defRPr>
            </a:pPr>
            <a:r>
              <a:t>Observation Model and Likelihood</a:t>
            </a:r>
          </a:p>
        </p:txBody>
      </p:sp>
      <p:sp>
        <p:nvSpPr>
          <p:cNvPr id="5" name="TextBox 4"/>
          <p:cNvSpPr txBox="1"/>
          <p:nvPr/>
        </p:nvSpPr>
        <p:spPr>
          <a:xfrm>
            <a:off x="11277295" y="6446520"/>
            <a:ext cx="548640" cy="274320"/>
          </a:xfrm>
          <a:prstGeom prst="rect">
            <a:avLst/>
          </a:prstGeom>
          <a:noFill/>
        </p:spPr>
        <p:txBody>
          <a:bodyPr wrap="none">
            <a:spAutoFit/>
          </a:bodyPr>
          <a:lstStyle/>
          <a:p>
            <a:pPr algn="r">
              <a:defRPr sz="1200">
                <a:solidFill>
                  <a:srgbClr val="666666"/>
                </a:solidFill>
                <a:latin typeface="Calibri"/>
              </a:defRPr>
            </a:pPr>
            <a:r>
              <a:t>14</a:t>
            </a:r>
          </a:p>
        </p:txBody>
      </p:sp>
      <p:sp>
        <p:nvSpPr>
          <p:cNvPr id="6" name="TextBox 5"/>
          <p:cNvSpPr txBox="1"/>
          <p:nvPr/>
        </p:nvSpPr>
        <p:spPr>
          <a:xfrm>
            <a:off x="731520" y="1280160"/>
            <a:ext cx="10728655" cy="457200"/>
          </a:xfrm>
          <a:prstGeom prst="rect">
            <a:avLst/>
          </a:prstGeom>
          <a:noFill/>
        </p:spPr>
        <p:txBody>
          <a:bodyPr wrap="square">
            <a:spAutoFit/>
          </a:bodyPr>
          <a:lstStyle/>
          <a:p>
            <a:pPr algn="l">
              <a:defRPr sz="2000" b="1">
                <a:solidFill>
                  <a:srgbClr val="222222"/>
                </a:solidFill>
                <a:latin typeface="Calibri"/>
              </a:defRPr>
            </a:pPr>
            <a:r>
              <a:t>Observation model</a:t>
            </a:r>
          </a:p>
        </p:txBody>
      </p:sp>
      <p:pic>
        <p:nvPicPr>
          <p:cNvPr id="7" name="Picture 6" descr="eq_00d05f7a1184.png"/>
          <p:cNvPicPr>
            <a:picLocks noChangeAspect="1"/>
          </p:cNvPicPr>
          <p:nvPr/>
        </p:nvPicPr>
        <p:blipFill>
          <a:blip r:embed="rId2"/>
          <a:stretch>
            <a:fillRect/>
          </a:stretch>
        </p:blipFill>
        <p:spPr>
          <a:xfrm>
            <a:off x="3444087" y="1810512"/>
            <a:ext cx="5303520" cy="435864"/>
          </a:xfrm>
          <a:prstGeom prst="rect">
            <a:avLst/>
          </a:prstGeom>
        </p:spPr>
      </p:pic>
      <p:pic>
        <p:nvPicPr>
          <p:cNvPr id="8" name="Picture 7" descr="eq_51d43e5161ca.png"/>
          <p:cNvPicPr>
            <a:picLocks noChangeAspect="1"/>
          </p:cNvPicPr>
          <p:nvPr/>
        </p:nvPicPr>
        <p:blipFill>
          <a:blip r:embed="rId3"/>
          <a:stretch>
            <a:fillRect/>
          </a:stretch>
        </p:blipFill>
        <p:spPr>
          <a:xfrm>
            <a:off x="1005840" y="2464308"/>
            <a:ext cx="417576" cy="295656"/>
          </a:xfrm>
          <a:prstGeom prst="rect">
            <a:avLst/>
          </a:prstGeom>
        </p:spPr>
      </p:pic>
      <p:sp>
        <p:nvSpPr>
          <p:cNvPr id="9" name="TextBox 8"/>
          <p:cNvSpPr txBox="1"/>
          <p:nvPr/>
        </p:nvSpPr>
        <p:spPr>
          <a:xfrm>
            <a:off x="3291840" y="2383536"/>
            <a:ext cx="8168335" cy="457200"/>
          </a:xfrm>
          <a:prstGeom prst="rect">
            <a:avLst/>
          </a:prstGeom>
          <a:noFill/>
        </p:spPr>
        <p:txBody>
          <a:bodyPr wrap="square" anchor="ctr">
            <a:spAutoFit/>
          </a:bodyPr>
          <a:lstStyle/>
          <a:p>
            <a:pPr>
              <a:defRPr sz="1800">
                <a:solidFill>
                  <a:srgbClr val="222222"/>
                </a:solidFill>
                <a:latin typeface="Calibri"/>
              </a:defRPr>
            </a:pPr>
            <a:r>
              <a:t>Observation at time t_k, species s</a:t>
            </a:r>
          </a:p>
        </p:txBody>
      </p:sp>
      <p:pic>
        <p:nvPicPr>
          <p:cNvPr id="10" name="Picture 9" descr="eq_393edf01426f.png"/>
          <p:cNvPicPr>
            <a:picLocks noChangeAspect="1"/>
          </p:cNvPicPr>
          <p:nvPr/>
        </p:nvPicPr>
        <p:blipFill>
          <a:blip r:embed="rId4"/>
          <a:stretch>
            <a:fillRect/>
          </a:stretch>
        </p:blipFill>
        <p:spPr>
          <a:xfrm>
            <a:off x="1005840" y="2930652"/>
            <a:ext cx="752856" cy="332232"/>
          </a:xfrm>
          <a:prstGeom prst="rect">
            <a:avLst/>
          </a:prstGeom>
        </p:spPr>
      </p:pic>
      <p:sp>
        <p:nvSpPr>
          <p:cNvPr id="11" name="TextBox 10"/>
          <p:cNvSpPr txBox="1"/>
          <p:nvPr/>
        </p:nvSpPr>
        <p:spPr>
          <a:xfrm>
            <a:off x="3291840" y="2868168"/>
            <a:ext cx="8168335" cy="457200"/>
          </a:xfrm>
          <a:prstGeom prst="rect">
            <a:avLst/>
          </a:prstGeom>
          <a:noFill/>
        </p:spPr>
        <p:txBody>
          <a:bodyPr wrap="square" anchor="ctr">
            <a:spAutoFit/>
          </a:bodyPr>
          <a:lstStyle/>
          <a:p>
            <a:pPr>
              <a:defRPr sz="1800">
                <a:solidFill>
                  <a:srgbClr val="222222"/>
                </a:solidFill>
                <a:latin typeface="Calibri"/>
              </a:defRPr>
            </a:pPr>
            <a:r>
              <a:t>Model prediction via ROM</a:t>
            </a:r>
          </a:p>
        </p:txBody>
      </p:sp>
      <p:pic>
        <p:nvPicPr>
          <p:cNvPr id="12" name="Picture 11" descr="eq_559d658a1399.png"/>
          <p:cNvPicPr>
            <a:picLocks noChangeAspect="1"/>
          </p:cNvPicPr>
          <p:nvPr/>
        </p:nvPicPr>
        <p:blipFill>
          <a:blip r:embed="rId5"/>
          <a:stretch>
            <a:fillRect/>
          </a:stretch>
        </p:blipFill>
        <p:spPr>
          <a:xfrm>
            <a:off x="1005840" y="3433572"/>
            <a:ext cx="463296" cy="295656"/>
          </a:xfrm>
          <a:prstGeom prst="rect">
            <a:avLst/>
          </a:prstGeom>
        </p:spPr>
      </p:pic>
      <p:sp>
        <p:nvSpPr>
          <p:cNvPr id="13" name="TextBox 12"/>
          <p:cNvSpPr txBox="1"/>
          <p:nvPr/>
        </p:nvSpPr>
        <p:spPr>
          <a:xfrm>
            <a:off x="3291840" y="3352800"/>
            <a:ext cx="8168335" cy="457200"/>
          </a:xfrm>
          <a:prstGeom prst="rect">
            <a:avLst/>
          </a:prstGeom>
          <a:noFill/>
        </p:spPr>
        <p:txBody>
          <a:bodyPr wrap="square" anchor="ctr">
            <a:spAutoFit/>
          </a:bodyPr>
          <a:lstStyle/>
          <a:p>
            <a:pPr>
              <a:defRPr sz="1800">
                <a:solidFill>
                  <a:srgbClr val="222222"/>
                </a:solidFill>
                <a:latin typeface="Calibri"/>
              </a:defRPr>
            </a:pPr>
            <a:r>
              <a:t>Standard deviation of the observation noise</a:t>
            </a:r>
          </a:p>
        </p:txBody>
      </p:sp>
      <p:sp>
        <p:nvSpPr>
          <p:cNvPr id="14" name="TextBox 13"/>
          <p:cNvSpPr txBox="1"/>
          <p:nvPr/>
        </p:nvSpPr>
        <p:spPr>
          <a:xfrm>
            <a:off x="731520" y="3928872"/>
            <a:ext cx="10728655" cy="457200"/>
          </a:xfrm>
          <a:prstGeom prst="rect">
            <a:avLst/>
          </a:prstGeom>
          <a:noFill/>
        </p:spPr>
        <p:txBody>
          <a:bodyPr wrap="square">
            <a:spAutoFit/>
          </a:bodyPr>
          <a:lstStyle/>
          <a:p>
            <a:pPr algn="l">
              <a:defRPr sz="2000" b="1">
                <a:solidFill>
                  <a:srgbClr val="222222"/>
                </a:solidFill>
                <a:latin typeface="Calibri"/>
              </a:defRPr>
            </a:pPr>
            <a:r>
              <a:t>Log-likelihood</a:t>
            </a:r>
          </a:p>
        </p:txBody>
      </p:sp>
      <p:pic>
        <p:nvPicPr>
          <p:cNvPr id="15" name="Picture 14" descr="eq_6ee9e8789984.png"/>
          <p:cNvPicPr>
            <a:picLocks noChangeAspect="1"/>
          </p:cNvPicPr>
          <p:nvPr/>
        </p:nvPicPr>
        <p:blipFill>
          <a:blip r:embed="rId6"/>
          <a:stretch>
            <a:fillRect/>
          </a:stretch>
        </p:blipFill>
        <p:spPr>
          <a:xfrm>
            <a:off x="2752191" y="4459224"/>
            <a:ext cx="6687312" cy="774192"/>
          </a:xfrm>
          <a:prstGeom prst="rect">
            <a:avLst/>
          </a:prstGeom>
        </p:spPr>
      </p:pic>
      <p:sp>
        <p:nvSpPr>
          <p:cNvPr id="16" name="TextBox 15"/>
          <p:cNvSpPr txBox="1"/>
          <p:nvPr/>
        </p:nvSpPr>
        <p:spPr>
          <a:xfrm>
            <a:off x="731520" y="5324856"/>
            <a:ext cx="10728655" cy="457200"/>
          </a:xfrm>
          <a:prstGeom prst="rect">
            <a:avLst/>
          </a:prstGeom>
          <a:noFill/>
        </p:spPr>
        <p:txBody>
          <a:bodyPr wrap="square">
            <a:spAutoFit/>
          </a:bodyPr>
          <a:lstStyle/>
          <a:p>
            <a:pPr algn="l">
              <a:defRPr sz="2000" b="1">
                <a:solidFill>
                  <a:srgbClr val="222222"/>
                </a:solidFill>
                <a:latin typeface="Calibri"/>
              </a:defRPr>
            </a:pPr>
            <a:r>
              <a:t>Prior distribution</a:t>
            </a:r>
          </a:p>
        </p:txBody>
      </p:sp>
      <p:pic>
        <p:nvPicPr>
          <p:cNvPr id="17" name="Picture 16" descr="eq_8bdb466ca95b.png"/>
          <p:cNvPicPr>
            <a:picLocks noChangeAspect="1"/>
          </p:cNvPicPr>
          <p:nvPr/>
        </p:nvPicPr>
        <p:blipFill>
          <a:blip r:embed="rId7"/>
          <a:stretch>
            <a:fillRect/>
          </a:stretch>
        </p:blipFill>
        <p:spPr>
          <a:xfrm>
            <a:off x="4241139" y="5855208"/>
            <a:ext cx="3709416" cy="448056"/>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6576"/>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
            <a:ext cx="10728655" cy="685800"/>
          </a:xfrm>
          <a:prstGeom prst="rect">
            <a:avLst/>
          </a:prstGeom>
          <a:noFill/>
        </p:spPr>
        <p:txBody>
          <a:bodyPr wrap="square">
            <a:spAutoFit/>
          </a:bodyPr>
          <a:lstStyle/>
          <a:p>
            <a:pPr>
              <a:defRPr sz="3000" b="1">
                <a:solidFill>
                  <a:srgbClr val="FFFFFF"/>
                </a:solidFill>
                <a:latin typeface="Calibri"/>
              </a:defRPr>
            </a:pPr>
            <a:r>
              <a:t>ROM — TSM with Linearization Update</a:t>
            </a:r>
          </a:p>
        </p:txBody>
      </p:sp>
      <p:sp>
        <p:nvSpPr>
          <p:cNvPr id="5" name="TextBox 4"/>
          <p:cNvSpPr txBox="1"/>
          <p:nvPr/>
        </p:nvSpPr>
        <p:spPr>
          <a:xfrm>
            <a:off x="11277295" y="6446520"/>
            <a:ext cx="548640" cy="274320"/>
          </a:xfrm>
          <a:prstGeom prst="rect">
            <a:avLst/>
          </a:prstGeom>
          <a:noFill/>
        </p:spPr>
        <p:txBody>
          <a:bodyPr wrap="none">
            <a:spAutoFit/>
          </a:bodyPr>
          <a:lstStyle/>
          <a:p>
            <a:pPr algn="r">
              <a:defRPr sz="1200">
                <a:solidFill>
                  <a:srgbClr val="666666"/>
                </a:solidFill>
                <a:latin typeface="Calibri"/>
              </a:defRPr>
            </a:pPr>
            <a:r>
              <a:t>15</a:t>
            </a:r>
          </a:p>
        </p:txBody>
      </p:sp>
      <p:sp>
        <p:nvSpPr>
          <p:cNvPr id="6" name="TextBox 5"/>
          <p:cNvSpPr txBox="1"/>
          <p:nvPr/>
        </p:nvSpPr>
        <p:spPr>
          <a:xfrm>
            <a:off x="731520" y="1280160"/>
            <a:ext cx="10728655" cy="457200"/>
          </a:xfrm>
          <a:prstGeom prst="rect">
            <a:avLst/>
          </a:prstGeom>
          <a:noFill/>
        </p:spPr>
        <p:txBody>
          <a:bodyPr wrap="square">
            <a:spAutoFit/>
          </a:bodyPr>
          <a:lstStyle/>
          <a:p>
            <a:pPr algn="l">
              <a:defRPr sz="2000" b="1">
                <a:solidFill>
                  <a:srgbClr val="222222"/>
                </a:solidFill>
                <a:latin typeface="Calibri"/>
              </a:defRPr>
            </a:pPr>
            <a:r>
              <a:t>Dimension reduction</a:t>
            </a:r>
          </a:p>
        </p:txBody>
      </p:sp>
      <p:pic>
        <p:nvPicPr>
          <p:cNvPr id="7" name="Picture 6" descr="eq_8c426971f38f.png"/>
          <p:cNvPicPr>
            <a:picLocks noChangeAspect="1"/>
          </p:cNvPicPr>
          <p:nvPr/>
        </p:nvPicPr>
        <p:blipFill>
          <a:blip r:embed="rId2"/>
          <a:stretch>
            <a:fillRect/>
          </a:stretch>
        </p:blipFill>
        <p:spPr>
          <a:xfrm>
            <a:off x="3297783" y="1810512"/>
            <a:ext cx="5596128" cy="368808"/>
          </a:xfrm>
          <a:prstGeom prst="rect">
            <a:avLst/>
          </a:prstGeom>
        </p:spPr>
      </p:pic>
      <p:sp>
        <p:nvSpPr>
          <p:cNvPr id="8" name="TextBox 7"/>
          <p:cNvSpPr txBox="1"/>
          <p:nvPr/>
        </p:nvSpPr>
        <p:spPr>
          <a:xfrm>
            <a:off x="731520" y="2252472"/>
            <a:ext cx="10728655" cy="411480"/>
          </a:xfrm>
          <a:prstGeom prst="rect">
            <a:avLst/>
          </a:prstGeom>
          <a:noFill/>
        </p:spPr>
        <p:txBody>
          <a:bodyPr wrap="square">
            <a:spAutoFit/>
          </a:bodyPr>
          <a:lstStyle/>
          <a:p>
            <a:pPr algn="l">
              <a:defRPr sz="1800" b="0">
                <a:solidFill>
                  <a:srgbClr val="222222"/>
                </a:solidFill>
                <a:latin typeface="Calibri"/>
              </a:defRPr>
            </a:pPr>
            <a:r>
              <a:t>V is constructed from POD (Proper Orthogonal Decomposition) of FOM snapshots.</a:t>
            </a:r>
          </a:p>
        </p:txBody>
      </p:sp>
      <p:sp>
        <p:nvSpPr>
          <p:cNvPr id="9" name="TextBox 8"/>
          <p:cNvSpPr txBox="1"/>
          <p:nvPr/>
        </p:nvSpPr>
        <p:spPr>
          <a:xfrm>
            <a:off x="731520" y="2773680"/>
            <a:ext cx="10728655" cy="457200"/>
          </a:xfrm>
          <a:prstGeom prst="rect">
            <a:avLst/>
          </a:prstGeom>
          <a:noFill/>
        </p:spPr>
        <p:txBody>
          <a:bodyPr wrap="square">
            <a:spAutoFit/>
          </a:bodyPr>
          <a:lstStyle/>
          <a:p>
            <a:pPr algn="l">
              <a:defRPr sz="2000" b="1">
                <a:solidFill>
                  <a:srgbClr val="222222"/>
                </a:solidFill>
                <a:latin typeface="Calibri"/>
              </a:defRPr>
            </a:pPr>
            <a:r>
              <a:t>Linearisation of FOM → time-stepping map</a:t>
            </a:r>
          </a:p>
        </p:txBody>
      </p:sp>
      <p:pic>
        <p:nvPicPr>
          <p:cNvPr id="10" name="Picture 9" descr="eq_3a0101765277.png"/>
          <p:cNvPicPr>
            <a:picLocks noChangeAspect="1"/>
          </p:cNvPicPr>
          <p:nvPr/>
        </p:nvPicPr>
        <p:blipFill>
          <a:blip r:embed="rId3"/>
          <a:stretch>
            <a:fillRect/>
          </a:stretch>
        </p:blipFill>
        <p:spPr>
          <a:xfrm>
            <a:off x="4923891" y="3304032"/>
            <a:ext cx="2343912" cy="399288"/>
          </a:xfrm>
          <a:prstGeom prst="rect">
            <a:avLst/>
          </a:prstGeom>
        </p:spPr>
      </p:pic>
      <p:sp>
        <p:nvSpPr>
          <p:cNvPr id="11" name="TextBox 10"/>
          <p:cNvSpPr txBox="1"/>
          <p:nvPr/>
        </p:nvSpPr>
        <p:spPr>
          <a:xfrm>
            <a:off x="731520" y="3813048"/>
            <a:ext cx="10728655" cy="502920"/>
          </a:xfrm>
          <a:prstGeom prst="rect">
            <a:avLst/>
          </a:prstGeom>
          <a:noFill/>
        </p:spPr>
        <p:txBody>
          <a:bodyPr wrap="square">
            <a:spAutoFit/>
          </a:bodyPr>
          <a:lstStyle/>
          <a:p>
            <a:pPr algn="l">
              <a:defRPr sz="2200" b="1">
                <a:solidFill>
                  <a:srgbClr val="0072CE"/>
                </a:solidFill>
                <a:latin typeface="Calibri"/>
              </a:defRPr>
            </a:pPr>
            <a:r>
              <a:t>Linearization point update during TMCMC</a:t>
            </a:r>
          </a:p>
        </p:txBody>
      </p:sp>
      <p:sp>
        <p:nvSpPr>
          <p:cNvPr id="12" name="TextBox 11"/>
          <p:cNvSpPr txBox="1"/>
          <p:nvPr/>
        </p:nvSpPr>
        <p:spPr>
          <a:xfrm>
            <a:off x="731520" y="4361688"/>
            <a:ext cx="10728655" cy="388620"/>
          </a:xfrm>
          <a:prstGeom prst="rect">
            <a:avLst/>
          </a:prstGeom>
          <a:noFill/>
        </p:spPr>
        <p:txBody>
          <a:bodyPr wrap="square">
            <a:spAutoFit/>
          </a:bodyPr>
          <a:lstStyle/>
          <a:p>
            <a:pPr algn="l">
              <a:defRPr sz="1700" b="0">
                <a:solidFill>
                  <a:srgbClr val="222222"/>
                </a:solidFill>
                <a:latin typeface="Calibri"/>
              </a:defRPr>
            </a:pPr>
            <a:r>
              <a:t>At each TMCMC stage, update the linearization point θ₀ to the current MAP:</a:t>
            </a:r>
          </a:p>
        </p:txBody>
      </p:sp>
      <p:pic>
        <p:nvPicPr>
          <p:cNvPr id="13" name="Picture 12" descr="eq_f14489f85fad.png"/>
          <p:cNvPicPr>
            <a:picLocks noChangeAspect="1"/>
          </p:cNvPicPr>
          <p:nvPr/>
        </p:nvPicPr>
        <p:blipFill>
          <a:blip r:embed="rId4"/>
          <a:stretch>
            <a:fillRect/>
          </a:stretch>
        </p:blipFill>
        <p:spPr>
          <a:xfrm>
            <a:off x="3890619" y="4796028"/>
            <a:ext cx="4410456" cy="411480"/>
          </a:xfrm>
          <a:prstGeom prst="rect">
            <a:avLst/>
          </a:prstGeom>
        </p:spPr>
      </p:pic>
      <p:sp>
        <p:nvSpPr>
          <p:cNvPr id="14" name="TextBox 13"/>
          <p:cNvSpPr txBox="1"/>
          <p:nvPr/>
        </p:nvSpPr>
        <p:spPr>
          <a:xfrm>
            <a:off x="731520" y="5280660"/>
            <a:ext cx="10728655" cy="863600"/>
          </a:xfrm>
          <a:prstGeom prst="rect">
            <a:avLst/>
          </a:prstGeom>
          <a:noFill/>
        </p:spPr>
        <p:txBody>
          <a:bodyPr wrap="square">
            <a:spAutoFit/>
          </a:bodyPr>
          <a:lstStyle/>
          <a:p>
            <a:pPr>
              <a:spcAft>
                <a:spcPts val="400"/>
              </a:spcAft>
              <a:defRPr sz="1700">
                <a:solidFill>
                  <a:srgbClr val="222222"/>
                </a:solidFill>
                <a:latin typeface="Calibri"/>
              </a:defRPr>
            </a:pPr>
            <a:r>
              <a:t>ROM accuracy improves as the posterior concentrates</a:t>
            </a:r>
          </a:p>
          <a:p>
            <a:pPr>
              <a:spcAft>
                <a:spcPts val="400"/>
              </a:spcAft>
              <a:defRPr sz="1700">
                <a:solidFill>
                  <a:srgbClr val="222222"/>
                </a:solidFill>
                <a:latin typeface="Calibri"/>
              </a:defRPr>
            </a:pPr>
            <a:r>
              <a:t>Skip update when ROM error is below threshold → reduces FOM evaluation cost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6576"/>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
            <a:ext cx="10728655" cy="685800"/>
          </a:xfrm>
          <a:prstGeom prst="rect">
            <a:avLst/>
          </a:prstGeom>
          <a:noFill/>
        </p:spPr>
        <p:txBody>
          <a:bodyPr wrap="square">
            <a:spAutoFit/>
          </a:bodyPr>
          <a:lstStyle/>
          <a:p>
            <a:pPr>
              <a:defRPr sz="3000" b="1">
                <a:solidFill>
                  <a:srgbClr val="FFFFFF"/>
                </a:solidFill>
                <a:latin typeface="Calibri"/>
              </a:defRPr>
            </a:pPr>
            <a:r>
              <a:t>TMCMC — Algorithm Details</a:t>
            </a:r>
          </a:p>
        </p:txBody>
      </p:sp>
      <p:sp>
        <p:nvSpPr>
          <p:cNvPr id="5" name="TextBox 4"/>
          <p:cNvSpPr txBox="1"/>
          <p:nvPr/>
        </p:nvSpPr>
        <p:spPr>
          <a:xfrm>
            <a:off x="11277295" y="6446520"/>
            <a:ext cx="548640" cy="274320"/>
          </a:xfrm>
          <a:prstGeom prst="rect">
            <a:avLst/>
          </a:prstGeom>
          <a:noFill/>
        </p:spPr>
        <p:txBody>
          <a:bodyPr wrap="none">
            <a:spAutoFit/>
          </a:bodyPr>
          <a:lstStyle/>
          <a:p>
            <a:pPr algn="r">
              <a:defRPr sz="1200">
                <a:solidFill>
                  <a:srgbClr val="666666"/>
                </a:solidFill>
                <a:latin typeface="Calibri"/>
              </a:defRPr>
            </a:pPr>
            <a:r>
              <a:t>16</a:t>
            </a:r>
          </a:p>
        </p:txBody>
      </p:sp>
      <p:sp>
        <p:nvSpPr>
          <p:cNvPr id="6" name="TextBox 5"/>
          <p:cNvSpPr txBox="1"/>
          <p:nvPr/>
        </p:nvSpPr>
        <p:spPr>
          <a:xfrm>
            <a:off x="731520" y="1280160"/>
            <a:ext cx="10728655" cy="457200"/>
          </a:xfrm>
          <a:prstGeom prst="rect">
            <a:avLst/>
          </a:prstGeom>
          <a:noFill/>
        </p:spPr>
        <p:txBody>
          <a:bodyPr wrap="square">
            <a:spAutoFit/>
          </a:bodyPr>
          <a:lstStyle/>
          <a:p>
            <a:pPr algn="l">
              <a:defRPr sz="2000" b="1">
                <a:solidFill>
                  <a:srgbClr val="222222"/>
                </a:solidFill>
                <a:latin typeface="Calibri"/>
              </a:defRPr>
            </a:pPr>
            <a:r>
              <a:t>Tempered posterior distribution</a:t>
            </a:r>
          </a:p>
        </p:txBody>
      </p:sp>
      <p:pic>
        <p:nvPicPr>
          <p:cNvPr id="7" name="Picture 6" descr="eq_b6b041a42a2b.png"/>
          <p:cNvPicPr>
            <a:picLocks noChangeAspect="1"/>
          </p:cNvPicPr>
          <p:nvPr/>
        </p:nvPicPr>
        <p:blipFill>
          <a:blip r:embed="rId2"/>
          <a:stretch>
            <a:fillRect/>
          </a:stretch>
        </p:blipFill>
        <p:spPr>
          <a:xfrm>
            <a:off x="2837535" y="1783080"/>
            <a:ext cx="6516624" cy="359664"/>
          </a:xfrm>
          <a:prstGeom prst="rect">
            <a:avLst/>
          </a:prstGeom>
        </p:spPr>
      </p:pic>
      <p:sp>
        <p:nvSpPr>
          <p:cNvPr id="8" name="TextBox 7"/>
          <p:cNvSpPr txBox="1"/>
          <p:nvPr/>
        </p:nvSpPr>
        <p:spPr>
          <a:xfrm>
            <a:off x="731520" y="2234184"/>
            <a:ext cx="10728655" cy="388620"/>
          </a:xfrm>
          <a:prstGeom prst="rect">
            <a:avLst/>
          </a:prstGeom>
          <a:noFill/>
        </p:spPr>
        <p:txBody>
          <a:bodyPr wrap="square">
            <a:spAutoFit/>
          </a:bodyPr>
          <a:lstStyle/>
          <a:p>
            <a:pPr algn="l">
              <a:defRPr sz="1700" b="1">
                <a:solidFill>
                  <a:srgbClr val="0072CE"/>
                </a:solidFill>
                <a:latin typeface="Calibri"/>
              </a:defRPr>
            </a:pPr>
            <a:r>
              <a:t>1)  Weight computation</a:t>
            </a:r>
          </a:p>
        </p:txBody>
      </p:sp>
      <p:pic>
        <p:nvPicPr>
          <p:cNvPr id="9" name="Picture 8" descr="eq_e23a55d0de9f.png"/>
          <p:cNvPicPr>
            <a:picLocks noChangeAspect="1"/>
          </p:cNvPicPr>
          <p:nvPr/>
        </p:nvPicPr>
        <p:blipFill>
          <a:blip r:embed="rId3"/>
          <a:stretch>
            <a:fillRect/>
          </a:stretch>
        </p:blipFill>
        <p:spPr>
          <a:xfrm>
            <a:off x="4951323" y="2668524"/>
            <a:ext cx="2289048" cy="402336"/>
          </a:xfrm>
          <a:prstGeom prst="rect">
            <a:avLst/>
          </a:prstGeom>
        </p:spPr>
      </p:pic>
      <p:sp>
        <p:nvSpPr>
          <p:cNvPr id="10" name="TextBox 9"/>
          <p:cNvSpPr txBox="1"/>
          <p:nvPr/>
        </p:nvSpPr>
        <p:spPr>
          <a:xfrm>
            <a:off x="731520" y="3116580"/>
            <a:ext cx="10728655" cy="388620"/>
          </a:xfrm>
          <a:prstGeom prst="rect">
            <a:avLst/>
          </a:prstGeom>
          <a:noFill/>
        </p:spPr>
        <p:txBody>
          <a:bodyPr wrap="square">
            <a:spAutoFit/>
          </a:bodyPr>
          <a:lstStyle/>
          <a:p>
            <a:pPr algn="l">
              <a:defRPr sz="1700" b="1">
                <a:solidFill>
                  <a:srgbClr val="0072CE"/>
                </a:solidFill>
                <a:latin typeface="Calibri"/>
              </a:defRPr>
            </a:pPr>
            <a:r>
              <a:t>2)  Adaptive β schedule</a:t>
            </a:r>
          </a:p>
        </p:txBody>
      </p:sp>
      <p:sp>
        <p:nvSpPr>
          <p:cNvPr id="11" name="TextBox 10"/>
          <p:cNvSpPr txBox="1"/>
          <p:nvPr/>
        </p:nvSpPr>
        <p:spPr>
          <a:xfrm>
            <a:off x="731520" y="3550920"/>
            <a:ext cx="10728655" cy="365760"/>
          </a:xfrm>
          <a:prstGeom prst="rect">
            <a:avLst/>
          </a:prstGeom>
          <a:noFill/>
        </p:spPr>
        <p:txBody>
          <a:bodyPr wrap="square">
            <a:spAutoFit/>
          </a:bodyPr>
          <a:lstStyle/>
          <a:p>
            <a:pPr algn="l">
              <a:defRPr sz="1600" b="0">
                <a:solidFill>
                  <a:srgbClr val="222222"/>
                </a:solidFill>
                <a:latin typeface="Calibri"/>
              </a:defRPr>
            </a:pPr>
            <a:r>
              <a:t>     Select β_{m+1} via bisection to maintain target ESS (N/2):</a:t>
            </a:r>
          </a:p>
        </p:txBody>
      </p:sp>
      <p:pic>
        <p:nvPicPr>
          <p:cNvPr id="12" name="Picture 11" descr="eq_31a1e6be994c.png"/>
          <p:cNvPicPr>
            <a:picLocks noChangeAspect="1"/>
          </p:cNvPicPr>
          <p:nvPr/>
        </p:nvPicPr>
        <p:blipFill>
          <a:blip r:embed="rId4"/>
          <a:stretch>
            <a:fillRect/>
          </a:stretch>
        </p:blipFill>
        <p:spPr>
          <a:xfrm>
            <a:off x="4456023" y="3916680"/>
            <a:ext cx="3279648" cy="661416"/>
          </a:xfrm>
          <a:prstGeom prst="rect">
            <a:avLst/>
          </a:prstGeom>
        </p:spPr>
      </p:pic>
      <p:sp>
        <p:nvSpPr>
          <p:cNvPr id="13" name="TextBox 12"/>
          <p:cNvSpPr txBox="1"/>
          <p:nvPr/>
        </p:nvSpPr>
        <p:spPr>
          <a:xfrm>
            <a:off x="731520" y="4623816"/>
            <a:ext cx="10728655" cy="388620"/>
          </a:xfrm>
          <a:prstGeom prst="rect">
            <a:avLst/>
          </a:prstGeom>
          <a:noFill/>
        </p:spPr>
        <p:txBody>
          <a:bodyPr wrap="square">
            <a:spAutoFit/>
          </a:bodyPr>
          <a:lstStyle/>
          <a:p>
            <a:pPr algn="l">
              <a:defRPr sz="1700" b="1">
                <a:solidFill>
                  <a:srgbClr val="0072CE"/>
                </a:solidFill>
                <a:latin typeface="Calibri"/>
              </a:defRPr>
            </a:pPr>
            <a:r>
              <a:t>3)  Resampling + MCMC mutation</a:t>
            </a:r>
          </a:p>
        </p:txBody>
      </p:sp>
      <p:sp>
        <p:nvSpPr>
          <p:cNvPr id="14" name="TextBox 13"/>
          <p:cNvSpPr txBox="1"/>
          <p:nvPr/>
        </p:nvSpPr>
        <p:spPr>
          <a:xfrm>
            <a:off x="731520" y="5058156"/>
            <a:ext cx="10728655" cy="365760"/>
          </a:xfrm>
          <a:prstGeom prst="rect">
            <a:avLst/>
          </a:prstGeom>
          <a:noFill/>
        </p:spPr>
        <p:txBody>
          <a:bodyPr wrap="square">
            <a:spAutoFit/>
          </a:bodyPr>
          <a:lstStyle/>
          <a:p>
            <a:pPr algn="l">
              <a:defRPr sz="1600" b="0">
                <a:solidFill>
                  <a:srgbClr val="222222"/>
                </a:solidFill>
                <a:latin typeface="Calibri"/>
              </a:defRPr>
            </a:pPr>
            <a:r>
              <a:t>     Proposal distribution (Gelman optimal scaling 2.38²/d):</a:t>
            </a:r>
          </a:p>
        </p:txBody>
      </p:sp>
      <p:pic>
        <p:nvPicPr>
          <p:cNvPr id="15" name="Picture 14" descr="eq_94e0676b70ed.png"/>
          <p:cNvPicPr>
            <a:picLocks noChangeAspect="1"/>
          </p:cNvPicPr>
          <p:nvPr/>
        </p:nvPicPr>
        <p:blipFill>
          <a:blip r:embed="rId5"/>
          <a:stretch>
            <a:fillRect/>
          </a:stretch>
        </p:blipFill>
        <p:spPr>
          <a:xfrm>
            <a:off x="4518507" y="5423916"/>
            <a:ext cx="3154680" cy="627888"/>
          </a:xfrm>
          <a:prstGeom prst="rect">
            <a:avLst/>
          </a:prstGeom>
        </p:spPr>
      </p:pic>
      <p:sp>
        <p:nvSpPr>
          <p:cNvPr id="16" name="TextBox 15"/>
          <p:cNvSpPr txBox="1"/>
          <p:nvPr/>
        </p:nvSpPr>
        <p:spPr>
          <a:xfrm>
            <a:off x="731520" y="6097524"/>
            <a:ext cx="10728655" cy="388620"/>
          </a:xfrm>
          <a:prstGeom prst="rect">
            <a:avLst/>
          </a:prstGeom>
          <a:noFill/>
        </p:spPr>
        <p:txBody>
          <a:bodyPr wrap="square">
            <a:spAutoFit/>
          </a:bodyPr>
          <a:lstStyle/>
          <a:p>
            <a:pPr algn="l">
              <a:defRPr sz="1700" b="1">
                <a:solidFill>
                  <a:srgbClr val="0072CE"/>
                </a:solidFill>
                <a:latin typeface="Calibri"/>
              </a:defRPr>
            </a:pPr>
            <a:r>
              <a:t>4)  MH acceptance probability</a:t>
            </a:r>
          </a:p>
        </p:txBody>
      </p:sp>
      <p:pic>
        <p:nvPicPr>
          <p:cNvPr id="17" name="Picture 16" descr="eq_7df858eddfbc.png"/>
          <p:cNvPicPr>
            <a:picLocks noChangeAspect="1"/>
          </p:cNvPicPr>
          <p:nvPr/>
        </p:nvPicPr>
        <p:blipFill>
          <a:blip r:embed="rId6"/>
          <a:stretch>
            <a:fillRect/>
          </a:stretch>
        </p:blipFill>
        <p:spPr>
          <a:xfrm>
            <a:off x="4672431" y="6531864"/>
            <a:ext cx="2846832" cy="6096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6576"/>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
            <a:ext cx="10728655" cy="685800"/>
          </a:xfrm>
          <a:prstGeom prst="rect">
            <a:avLst/>
          </a:prstGeom>
          <a:noFill/>
        </p:spPr>
        <p:txBody>
          <a:bodyPr wrap="square">
            <a:spAutoFit/>
          </a:bodyPr>
          <a:lstStyle/>
          <a:p>
            <a:pPr>
              <a:defRPr sz="3000" b="1">
                <a:solidFill>
                  <a:srgbClr val="FFFFFF"/>
                </a:solidFill>
                <a:latin typeface="Calibri"/>
              </a:defRPr>
            </a:pPr>
            <a:r>
              <a:t>4-Stage Sequential Estimation and Experimental Conditions</a:t>
            </a:r>
          </a:p>
        </p:txBody>
      </p:sp>
      <p:sp>
        <p:nvSpPr>
          <p:cNvPr id="5" name="TextBox 4"/>
          <p:cNvSpPr txBox="1"/>
          <p:nvPr/>
        </p:nvSpPr>
        <p:spPr>
          <a:xfrm>
            <a:off x="11277295" y="6446520"/>
            <a:ext cx="548640" cy="274320"/>
          </a:xfrm>
          <a:prstGeom prst="rect">
            <a:avLst/>
          </a:prstGeom>
          <a:noFill/>
        </p:spPr>
        <p:txBody>
          <a:bodyPr wrap="none">
            <a:spAutoFit/>
          </a:bodyPr>
          <a:lstStyle/>
          <a:p>
            <a:pPr algn="r">
              <a:defRPr sz="1200">
                <a:solidFill>
                  <a:srgbClr val="666666"/>
                </a:solidFill>
                <a:latin typeface="Calibri"/>
              </a:defRPr>
            </a:pPr>
            <a:r>
              <a:t>17</a:t>
            </a:r>
          </a:p>
        </p:txBody>
      </p:sp>
      <p:sp>
        <p:nvSpPr>
          <p:cNvPr id="6" name="TextBox 5"/>
          <p:cNvSpPr txBox="1"/>
          <p:nvPr/>
        </p:nvSpPr>
        <p:spPr>
          <a:xfrm>
            <a:off x="731520" y="1280160"/>
            <a:ext cx="10728655" cy="502920"/>
          </a:xfrm>
          <a:prstGeom prst="rect">
            <a:avLst/>
          </a:prstGeom>
          <a:noFill/>
        </p:spPr>
        <p:txBody>
          <a:bodyPr wrap="square">
            <a:spAutoFit/>
          </a:bodyPr>
          <a:lstStyle/>
          <a:p>
            <a:pPr algn="l">
              <a:defRPr sz="2200" b="1">
                <a:solidFill>
                  <a:srgbClr val="0072CE"/>
                </a:solidFill>
                <a:latin typeface="Calibri"/>
              </a:defRPr>
            </a:pPr>
            <a:r>
              <a:t>4-stage sequential estimation</a:t>
            </a:r>
          </a:p>
        </p:txBody>
      </p:sp>
      <p:sp>
        <p:nvSpPr>
          <p:cNvPr id="7" name="TextBox 6"/>
          <p:cNvSpPr txBox="1"/>
          <p:nvPr/>
        </p:nvSpPr>
        <p:spPr>
          <a:xfrm>
            <a:off x="731520" y="1828800"/>
            <a:ext cx="10728655" cy="1625600"/>
          </a:xfrm>
          <a:prstGeom prst="rect">
            <a:avLst/>
          </a:prstGeom>
          <a:noFill/>
        </p:spPr>
        <p:txBody>
          <a:bodyPr wrap="square">
            <a:spAutoFit/>
          </a:bodyPr>
          <a:lstStyle/>
          <a:p>
            <a:pPr>
              <a:spcAft>
                <a:spcPts val="400"/>
              </a:spcAft>
              <a:defRPr sz="1600">
                <a:solidFill>
                  <a:srgbClr val="222222"/>
                </a:solidFill>
                <a:latin typeface="Calibri"/>
              </a:defRPr>
            </a:pPr>
            <a:r>
              <a:t>Stage 1 (M1):  S.o + A.n  → 5 params (a₁₁, a₁₂, a₂₂, b₁, b₂)</a:t>
            </a:r>
          </a:p>
          <a:p>
            <a:pPr>
              <a:spcAft>
                <a:spcPts val="400"/>
              </a:spcAft>
              <a:defRPr sz="1600">
                <a:solidFill>
                  <a:srgbClr val="222222"/>
                </a:solidFill>
                <a:latin typeface="Calibri"/>
              </a:defRPr>
            </a:pPr>
            <a:r>
              <a:t>Stage 2 (M2):  Vei + F.n  → 5 params (a₃₃, a₃₄, a₄₄, b₃, b₄)</a:t>
            </a:r>
          </a:p>
          <a:p>
            <a:pPr>
              <a:spcAft>
                <a:spcPts val="400"/>
              </a:spcAft>
              <a:defRPr sz="1600">
                <a:solidFill>
                  <a:srgbClr val="222222"/>
                </a:solidFill>
                <a:latin typeface="Calibri"/>
              </a:defRPr>
            </a:pPr>
            <a:r>
              <a:t>Stage 3 (M3+M4):  Cross + P.g self → 6 params (a₁₃, a₁₄, a₂₃, a₂₄, a₅₅, b₅)</a:t>
            </a:r>
          </a:p>
          <a:p>
            <a:pPr>
              <a:spcAft>
                <a:spcPts val="400"/>
              </a:spcAft>
              <a:defRPr sz="1600">
                <a:solidFill>
                  <a:srgbClr val="222222"/>
                </a:solidFill>
                <a:latin typeface="Calibri"/>
              </a:defRPr>
            </a:pPr>
            <a:r>
              <a:t>Stage 4 (M5):  P.g cross → 4 params (a₁₅, a₂₅, a₃₅, a₄₅)</a:t>
            </a:r>
          </a:p>
        </p:txBody>
      </p:sp>
      <p:sp>
        <p:nvSpPr>
          <p:cNvPr id="8" name="TextBox 7"/>
          <p:cNvSpPr txBox="1"/>
          <p:nvPr/>
        </p:nvSpPr>
        <p:spPr>
          <a:xfrm>
            <a:off x="731520" y="3500120"/>
            <a:ext cx="10728655" cy="388620"/>
          </a:xfrm>
          <a:prstGeom prst="rect">
            <a:avLst/>
          </a:prstGeom>
          <a:noFill/>
        </p:spPr>
        <p:txBody>
          <a:bodyPr wrap="square">
            <a:spAutoFit/>
          </a:bodyPr>
          <a:lstStyle/>
          <a:p>
            <a:pPr algn="l">
              <a:defRPr sz="1700" b="0">
                <a:solidFill>
                  <a:srgbClr val="222222"/>
                </a:solidFill>
                <a:latin typeface="Calibri"/>
              </a:defRPr>
            </a:pPr>
            <a:r>
              <a:t>After each stage, fix MAP estimates in θ_base and proceed:</a:t>
            </a:r>
          </a:p>
        </p:txBody>
      </p:sp>
      <p:pic>
        <p:nvPicPr>
          <p:cNvPr id="9" name="Picture 8" descr="eq_c75a4f281d0d.png"/>
          <p:cNvPicPr>
            <a:picLocks noChangeAspect="1"/>
          </p:cNvPicPr>
          <p:nvPr/>
        </p:nvPicPr>
        <p:blipFill>
          <a:blip r:embed="rId2"/>
          <a:stretch>
            <a:fillRect/>
          </a:stretch>
        </p:blipFill>
        <p:spPr>
          <a:xfrm>
            <a:off x="4640427" y="3888740"/>
            <a:ext cx="2910840" cy="387096"/>
          </a:xfrm>
          <a:prstGeom prst="rect">
            <a:avLst/>
          </a:prstGeom>
        </p:spPr>
      </p:pic>
      <p:sp>
        <p:nvSpPr>
          <p:cNvPr id="10" name="TextBox 9"/>
          <p:cNvSpPr txBox="1"/>
          <p:nvPr/>
        </p:nvSpPr>
        <p:spPr>
          <a:xfrm>
            <a:off x="731520" y="4367276"/>
            <a:ext cx="10728655" cy="502920"/>
          </a:xfrm>
          <a:prstGeom prst="rect">
            <a:avLst/>
          </a:prstGeom>
          <a:noFill/>
        </p:spPr>
        <p:txBody>
          <a:bodyPr wrap="square">
            <a:spAutoFit/>
          </a:bodyPr>
          <a:lstStyle/>
          <a:p>
            <a:pPr algn="l">
              <a:defRPr sz="2200" b="1">
                <a:solidFill>
                  <a:srgbClr val="0072CE"/>
                </a:solidFill>
                <a:latin typeface="Calibri"/>
              </a:defRPr>
            </a:pPr>
            <a:r>
              <a:t>4 experimental conditions (Heine et al.)</a:t>
            </a:r>
          </a:p>
        </p:txBody>
      </p:sp>
      <p:sp>
        <p:nvSpPr>
          <p:cNvPr id="11" name="TextBox 10"/>
          <p:cNvSpPr txBox="1"/>
          <p:nvPr/>
        </p:nvSpPr>
        <p:spPr>
          <a:xfrm>
            <a:off x="731520" y="4915916"/>
            <a:ext cx="10728655" cy="1625600"/>
          </a:xfrm>
          <a:prstGeom prst="rect">
            <a:avLst/>
          </a:prstGeom>
          <a:noFill/>
        </p:spPr>
        <p:txBody>
          <a:bodyPr wrap="square">
            <a:spAutoFit/>
          </a:bodyPr>
          <a:lstStyle/>
          <a:p>
            <a:pPr>
              <a:spcAft>
                <a:spcPts val="400"/>
              </a:spcAft>
              <a:defRPr sz="1600">
                <a:solidFill>
                  <a:srgbClr val="222222"/>
                </a:solidFill>
                <a:latin typeface="Calibri"/>
              </a:defRPr>
            </a:pPr>
            <a:r>
              <a:t>Commensal Static:  lock 9 / estimate 11 — pathogen-free baseline</a:t>
            </a:r>
          </a:p>
          <a:p>
            <a:pPr>
              <a:spcAft>
                <a:spcPts val="400"/>
              </a:spcAft>
              <a:defRPr sz="1600">
                <a:solidFill>
                  <a:srgbClr val="222222"/>
                </a:solidFill>
                <a:latin typeface="Calibri"/>
              </a:defRPr>
            </a:pPr>
            <a:r>
              <a:t>Dysbiotic Static:   lock 5 / estimate 15 — pathogens present, static culture</a:t>
            </a:r>
          </a:p>
          <a:p>
            <a:pPr>
              <a:spcAft>
                <a:spcPts val="400"/>
              </a:spcAft>
              <a:defRPr sz="1600">
                <a:solidFill>
                  <a:srgbClr val="222222"/>
                </a:solidFill>
                <a:latin typeface="Calibri"/>
              </a:defRPr>
            </a:pPr>
            <a:r>
              <a:t>Commensal HOBIC:  lock 8 / estimate 12 — flow culture, S.o growth estimated</a:t>
            </a:r>
          </a:p>
          <a:p>
            <a:pPr>
              <a:spcAft>
                <a:spcPts val="400"/>
              </a:spcAft>
              <a:defRPr sz="1600">
                <a:solidFill>
                  <a:srgbClr val="222222"/>
                </a:solidFill>
                <a:latin typeface="Calibri"/>
              </a:defRPr>
            </a:pPr>
            <a:r>
              <a:t>Dysbiotic HOBIC:   lock 0 / estimate 20 — all unlocked (Surge reproduction)</a:t>
            </a:r>
          </a:p>
        </p:txBody>
      </p:sp>
      <p:sp>
        <p:nvSpPr>
          <p:cNvPr id="12" name="TextBox 11"/>
          <p:cNvSpPr txBox="1"/>
          <p:nvPr/>
        </p:nvSpPr>
        <p:spPr>
          <a:xfrm>
            <a:off x="731520" y="6587236"/>
            <a:ext cx="10728655" cy="388620"/>
          </a:xfrm>
          <a:prstGeom prst="rect">
            <a:avLst/>
          </a:prstGeom>
          <a:noFill/>
        </p:spPr>
        <p:txBody>
          <a:bodyPr wrap="square">
            <a:spAutoFit/>
          </a:bodyPr>
          <a:lstStyle/>
          <a:p>
            <a:pPr algn="l">
              <a:defRPr sz="1700" b="0">
                <a:solidFill>
                  <a:srgbClr val="222222"/>
                </a:solidFill>
                <a:latin typeface="Calibri"/>
              </a:defRPr>
            </a:pPr>
            <a:r>
              <a:t>→  Lock set varies per condition to ensure biologically valid estimation space.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6576"/>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
            <a:ext cx="10728655" cy="685800"/>
          </a:xfrm>
          <a:prstGeom prst="rect">
            <a:avLst/>
          </a:prstGeom>
          <a:noFill/>
        </p:spPr>
        <p:txBody>
          <a:bodyPr wrap="square">
            <a:spAutoFit/>
          </a:bodyPr>
          <a:lstStyle/>
          <a:p>
            <a:pPr>
              <a:defRPr sz="3000" b="1">
                <a:solidFill>
                  <a:srgbClr val="FFFFFF"/>
                </a:solidFill>
                <a:latin typeface="Calibri"/>
              </a:defRPr>
            </a:pPr>
            <a:r>
              <a:t>Summary and Outlook</a:t>
            </a:r>
          </a:p>
        </p:txBody>
      </p:sp>
      <p:sp>
        <p:nvSpPr>
          <p:cNvPr id="5" name="TextBox 4"/>
          <p:cNvSpPr txBox="1"/>
          <p:nvPr/>
        </p:nvSpPr>
        <p:spPr>
          <a:xfrm>
            <a:off x="11277295" y="6446520"/>
            <a:ext cx="548640" cy="274320"/>
          </a:xfrm>
          <a:prstGeom prst="rect">
            <a:avLst/>
          </a:prstGeom>
          <a:noFill/>
        </p:spPr>
        <p:txBody>
          <a:bodyPr wrap="none">
            <a:spAutoFit/>
          </a:bodyPr>
          <a:lstStyle/>
          <a:p>
            <a:pPr algn="r">
              <a:defRPr sz="1200">
                <a:solidFill>
                  <a:srgbClr val="666666"/>
                </a:solidFill>
                <a:latin typeface="Calibri"/>
              </a:defRPr>
            </a:pPr>
            <a:r>
              <a:t>18</a:t>
            </a:r>
          </a:p>
        </p:txBody>
      </p:sp>
      <p:sp>
        <p:nvSpPr>
          <p:cNvPr id="6" name="TextBox 5"/>
          <p:cNvSpPr txBox="1"/>
          <p:nvPr/>
        </p:nvSpPr>
        <p:spPr>
          <a:xfrm>
            <a:off x="731520" y="1280160"/>
            <a:ext cx="10728655" cy="502920"/>
          </a:xfrm>
          <a:prstGeom prst="rect">
            <a:avLst/>
          </a:prstGeom>
          <a:noFill/>
        </p:spPr>
        <p:txBody>
          <a:bodyPr wrap="square">
            <a:spAutoFit/>
          </a:bodyPr>
          <a:lstStyle/>
          <a:p>
            <a:pPr algn="l">
              <a:defRPr sz="2200" b="1">
                <a:solidFill>
                  <a:srgbClr val="0072CE"/>
                </a:solidFill>
                <a:latin typeface="Calibri"/>
              </a:defRPr>
            </a:pPr>
            <a:r>
              <a:t>Summary</a:t>
            </a:r>
          </a:p>
        </p:txBody>
      </p:sp>
      <p:sp>
        <p:nvSpPr>
          <p:cNvPr id="7" name="TextBox 6"/>
          <p:cNvSpPr txBox="1"/>
          <p:nvPr/>
        </p:nvSpPr>
        <p:spPr>
          <a:xfrm>
            <a:off x="731520" y="1828800"/>
            <a:ext cx="10728655" cy="2159000"/>
          </a:xfrm>
          <a:prstGeom prst="rect">
            <a:avLst/>
          </a:prstGeom>
          <a:noFill/>
        </p:spPr>
        <p:txBody>
          <a:bodyPr wrap="square">
            <a:spAutoFit/>
          </a:bodyPr>
          <a:lstStyle/>
          <a:p>
            <a:pPr>
              <a:spcAft>
                <a:spcPts val="400"/>
              </a:spcAft>
              <a:defRPr sz="1700">
                <a:solidFill>
                  <a:srgbClr val="222222"/>
                </a:solidFill>
                <a:latin typeface="Calibri"/>
              </a:defRPr>
            </a:pPr>
            <a:r>
              <a:t>FOM:  Nonlinear dissipative system for 5-species biofilm based on free energy.</a:t>
            </a:r>
          </a:p>
          <a:p>
            <a:pPr>
              <a:spcAft>
                <a:spcPts val="400"/>
              </a:spcAft>
              <a:defRPr sz="1700">
                <a:solidFill>
                  <a:srgbClr val="222222"/>
                </a:solidFill>
                <a:latin typeface="Calibri"/>
              </a:defRPr>
            </a:pPr>
            <a:r>
              <a:t>Parameter reduction: biological constraints reduce 20 → 15 free parameters.</a:t>
            </a:r>
          </a:p>
          <a:p>
            <a:pPr>
              <a:spcAft>
                <a:spcPts val="400"/>
              </a:spcAft>
              <a:defRPr sz="1700">
                <a:solidFill>
                  <a:srgbClr val="222222"/>
                </a:solidFill>
                <a:latin typeface="Calibri"/>
              </a:defRPr>
            </a:pPr>
            <a:r>
              <a:t>ROM (TSM):  Low-dim approximation + adaptive linearization point update.</a:t>
            </a:r>
          </a:p>
          <a:p>
            <a:pPr>
              <a:spcAft>
                <a:spcPts val="400"/>
              </a:spcAft>
              <a:defRPr sz="1700">
                <a:solidFill>
                  <a:srgbClr val="222222"/>
                </a:solidFill>
                <a:latin typeface="Calibri"/>
              </a:defRPr>
            </a:pPr>
            <a:r>
              <a:t>TMCMC:  Adaptive β schedule, optimal proposal covariance, K-step mutation.</a:t>
            </a:r>
          </a:p>
          <a:p>
            <a:pPr>
              <a:spcAft>
                <a:spcPts val="400"/>
              </a:spcAft>
              <a:defRPr sz="1700">
                <a:solidFill>
                  <a:srgbClr val="222222"/>
                </a:solidFill>
                <a:latin typeface="Calibri"/>
              </a:defRPr>
            </a:pPr>
            <a:r>
              <a:t>4-stage sequential estimation:  biologically-grouped stages for stable inference.</a:t>
            </a:r>
          </a:p>
        </p:txBody>
      </p:sp>
      <p:sp>
        <p:nvSpPr>
          <p:cNvPr id="8" name="TextBox 7"/>
          <p:cNvSpPr txBox="1"/>
          <p:nvPr/>
        </p:nvSpPr>
        <p:spPr>
          <a:xfrm>
            <a:off x="731520" y="4124960"/>
            <a:ext cx="10728655" cy="502920"/>
          </a:xfrm>
          <a:prstGeom prst="rect">
            <a:avLst/>
          </a:prstGeom>
          <a:noFill/>
        </p:spPr>
        <p:txBody>
          <a:bodyPr wrap="square">
            <a:spAutoFit/>
          </a:bodyPr>
          <a:lstStyle/>
          <a:p>
            <a:pPr algn="l">
              <a:defRPr sz="2200" b="1">
                <a:solidFill>
                  <a:srgbClr val="0072CE"/>
                </a:solidFill>
                <a:latin typeface="Calibri"/>
              </a:defRPr>
            </a:pPr>
            <a:r>
              <a:t>Outlook</a:t>
            </a:r>
          </a:p>
        </p:txBody>
      </p:sp>
      <p:sp>
        <p:nvSpPr>
          <p:cNvPr id="9" name="TextBox 8"/>
          <p:cNvSpPr txBox="1"/>
          <p:nvPr/>
        </p:nvSpPr>
        <p:spPr>
          <a:xfrm>
            <a:off x="731520" y="4673600"/>
            <a:ext cx="10728655" cy="1727200"/>
          </a:xfrm>
          <a:prstGeom prst="rect">
            <a:avLst/>
          </a:prstGeom>
          <a:noFill/>
        </p:spPr>
        <p:txBody>
          <a:bodyPr wrap="square">
            <a:spAutoFit/>
          </a:bodyPr>
          <a:lstStyle/>
          <a:p>
            <a:pPr>
              <a:spcAft>
                <a:spcPts val="400"/>
              </a:spcAft>
              <a:defRPr sz="1700">
                <a:solidFill>
                  <a:srgbClr val="222222"/>
                </a:solidFill>
                <a:latin typeface="Calibri"/>
              </a:defRPr>
            </a:pPr>
            <a:r>
              <a:t>Application to experimental data and validation of estimation accuracy.</a:t>
            </a:r>
          </a:p>
          <a:p>
            <a:pPr>
              <a:spcAft>
                <a:spcPts val="400"/>
              </a:spcAft>
              <a:defRPr sz="1700">
                <a:solidFill>
                  <a:srgbClr val="222222"/>
                </a:solidFill>
                <a:latin typeface="Calibri"/>
              </a:defRPr>
            </a:pPr>
            <a:r>
              <a:t>Model evidence: Bayes factor comparison via TMCMC at no extra cost.</a:t>
            </a:r>
          </a:p>
          <a:p>
            <a:pPr>
              <a:spcAft>
                <a:spcPts val="400"/>
              </a:spcAft>
              <a:defRPr sz="1700">
                <a:solidFill>
                  <a:srgbClr val="222222"/>
                </a:solidFill>
                <a:latin typeface="Calibri"/>
              </a:defRPr>
            </a:pPr>
            <a:r>
              <a:t>Uncertainty quantification:  credible intervals from the posterior.</a:t>
            </a:r>
          </a:p>
          <a:p>
            <a:pPr>
              <a:spcAft>
                <a:spcPts val="400"/>
              </a:spcAft>
              <a:defRPr sz="1700">
                <a:solidFill>
                  <a:srgbClr val="222222"/>
                </a:solidFill>
                <a:latin typeface="Calibri"/>
              </a:defRPr>
            </a:pPr>
            <a:r>
              <a:t>Multi-condition estimation:  all 4 conditions (commensal/dysbiotic × static/HOBIC).</a:t>
            </a:r>
          </a:p>
        </p:txBody>
      </p:sp>
      <p:sp>
        <p:nvSpPr>
          <p:cNvPr id="10" name="TextBox 9"/>
          <p:cNvSpPr txBox="1"/>
          <p:nvPr/>
        </p:nvSpPr>
        <p:spPr>
          <a:xfrm>
            <a:off x="731520" y="6492240"/>
            <a:ext cx="10728655" cy="502920"/>
          </a:xfrm>
          <a:prstGeom prst="rect">
            <a:avLst/>
          </a:prstGeom>
          <a:noFill/>
        </p:spPr>
        <p:txBody>
          <a:bodyPr wrap="square">
            <a:spAutoFit/>
          </a:bodyPr>
          <a:lstStyle/>
          <a:p>
            <a:pPr algn="l">
              <a:defRPr sz="2200" b="1">
                <a:solidFill>
                  <a:srgbClr val="0072CE"/>
                </a:solidFill>
                <a:latin typeface="Calibri"/>
              </a:defRPr>
            </a:pPr>
            <a:r>
              <a:t>Model evidence (TMCMC byproduct)</a:t>
            </a:r>
          </a:p>
        </p:txBody>
      </p:sp>
      <p:pic>
        <p:nvPicPr>
          <p:cNvPr id="11" name="Picture 10" descr="eq_37b853a3fc82.png"/>
          <p:cNvPicPr>
            <a:picLocks noChangeAspect="1"/>
          </p:cNvPicPr>
          <p:nvPr/>
        </p:nvPicPr>
        <p:blipFill>
          <a:blip r:embed="rId2"/>
          <a:stretch>
            <a:fillRect/>
          </a:stretch>
        </p:blipFill>
        <p:spPr>
          <a:xfrm>
            <a:off x="4506315" y="7040880"/>
            <a:ext cx="3179064" cy="527304"/>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6576"/>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
            <a:ext cx="10728655" cy="685800"/>
          </a:xfrm>
          <a:prstGeom prst="rect">
            <a:avLst/>
          </a:prstGeom>
          <a:noFill/>
        </p:spPr>
        <p:txBody>
          <a:bodyPr wrap="square">
            <a:spAutoFit/>
          </a:bodyPr>
          <a:lstStyle/>
          <a:p>
            <a:pPr>
              <a:defRPr sz="3000" b="1">
                <a:solidFill>
                  <a:srgbClr val="FFFFFF"/>
                </a:solidFill>
                <a:latin typeface="Calibri"/>
              </a:defRPr>
            </a:pPr>
            <a:r>
              <a:t>Backup: From Hamilton Principle to Implementation</a:t>
            </a:r>
          </a:p>
        </p:txBody>
      </p:sp>
      <p:sp>
        <p:nvSpPr>
          <p:cNvPr id="5" name="TextBox 4"/>
          <p:cNvSpPr txBox="1"/>
          <p:nvPr/>
        </p:nvSpPr>
        <p:spPr>
          <a:xfrm>
            <a:off x="11277295" y="6446520"/>
            <a:ext cx="548640" cy="274320"/>
          </a:xfrm>
          <a:prstGeom prst="rect">
            <a:avLst/>
          </a:prstGeom>
          <a:noFill/>
        </p:spPr>
        <p:txBody>
          <a:bodyPr wrap="none">
            <a:spAutoFit/>
          </a:bodyPr>
          <a:lstStyle/>
          <a:p>
            <a:pPr algn="r">
              <a:defRPr sz="1200">
                <a:solidFill>
                  <a:srgbClr val="666666"/>
                </a:solidFill>
                <a:latin typeface="Calibri"/>
              </a:defRPr>
            </a:pPr>
            <a:r>
              <a:t>19</a:t>
            </a:r>
          </a:p>
        </p:txBody>
      </p:sp>
      <p:sp>
        <p:nvSpPr>
          <p:cNvPr id="6" name="TextBox 5"/>
          <p:cNvSpPr txBox="1"/>
          <p:nvPr/>
        </p:nvSpPr>
        <p:spPr>
          <a:xfrm>
            <a:off x="731520" y="1280160"/>
            <a:ext cx="10728655" cy="502920"/>
          </a:xfrm>
          <a:prstGeom prst="rect">
            <a:avLst/>
          </a:prstGeom>
          <a:noFill/>
        </p:spPr>
        <p:txBody>
          <a:bodyPr wrap="square">
            <a:spAutoFit/>
          </a:bodyPr>
          <a:lstStyle/>
          <a:p>
            <a:pPr algn="l">
              <a:defRPr sz="2200" b="1">
                <a:solidFill>
                  <a:srgbClr val="0072CE"/>
                </a:solidFill>
                <a:latin typeface="Calibri"/>
              </a:defRPr>
            </a:pPr>
            <a:r>
              <a:t>Step 1:  Variational principle (Hamilton)</a:t>
            </a:r>
          </a:p>
        </p:txBody>
      </p:sp>
      <p:pic>
        <p:nvPicPr>
          <p:cNvPr id="7" name="Picture 6" descr="eq_4fe0faedefb0.png"/>
          <p:cNvPicPr>
            <a:picLocks noChangeAspect="1"/>
          </p:cNvPicPr>
          <p:nvPr/>
        </p:nvPicPr>
        <p:blipFill>
          <a:blip r:embed="rId2"/>
          <a:stretch>
            <a:fillRect/>
          </a:stretch>
        </p:blipFill>
        <p:spPr>
          <a:xfrm>
            <a:off x="4271619" y="1828800"/>
            <a:ext cx="3648456" cy="484632"/>
          </a:xfrm>
          <a:prstGeom prst="rect">
            <a:avLst/>
          </a:prstGeom>
        </p:spPr>
      </p:pic>
      <p:sp>
        <p:nvSpPr>
          <p:cNvPr id="8" name="TextBox 7"/>
          <p:cNvSpPr txBox="1"/>
          <p:nvPr/>
        </p:nvSpPr>
        <p:spPr>
          <a:xfrm>
            <a:off x="731520" y="2404872"/>
            <a:ext cx="10728655" cy="502920"/>
          </a:xfrm>
          <a:prstGeom prst="rect">
            <a:avLst/>
          </a:prstGeom>
          <a:noFill/>
        </p:spPr>
        <p:txBody>
          <a:bodyPr wrap="square">
            <a:spAutoFit/>
          </a:bodyPr>
          <a:lstStyle/>
          <a:p>
            <a:pPr algn="l">
              <a:defRPr sz="2200" b="1">
                <a:solidFill>
                  <a:srgbClr val="0072CE"/>
                </a:solidFill>
                <a:latin typeface="Calibri"/>
              </a:defRPr>
            </a:pPr>
            <a:r>
              <a:t>Step 2:  Strong form (Euler-Lagrange)</a:t>
            </a:r>
          </a:p>
        </p:txBody>
      </p:sp>
      <p:pic>
        <p:nvPicPr>
          <p:cNvPr id="9" name="Picture 8" descr="eq_2c85f424f402.png"/>
          <p:cNvPicPr>
            <a:picLocks noChangeAspect="1"/>
          </p:cNvPicPr>
          <p:nvPr/>
        </p:nvPicPr>
        <p:blipFill>
          <a:blip r:embed="rId3"/>
          <a:stretch>
            <a:fillRect/>
          </a:stretch>
        </p:blipFill>
        <p:spPr>
          <a:xfrm>
            <a:off x="4248759" y="2953512"/>
            <a:ext cx="3694176" cy="643128"/>
          </a:xfrm>
          <a:prstGeom prst="rect">
            <a:avLst/>
          </a:prstGeom>
        </p:spPr>
      </p:pic>
      <p:sp>
        <p:nvSpPr>
          <p:cNvPr id="10" name="TextBox 9"/>
          <p:cNvSpPr txBox="1"/>
          <p:nvPr/>
        </p:nvSpPr>
        <p:spPr>
          <a:xfrm>
            <a:off x="731520" y="3688080"/>
            <a:ext cx="10728655" cy="502920"/>
          </a:xfrm>
          <a:prstGeom prst="rect">
            <a:avLst/>
          </a:prstGeom>
          <a:noFill/>
        </p:spPr>
        <p:txBody>
          <a:bodyPr wrap="square">
            <a:spAutoFit/>
          </a:bodyPr>
          <a:lstStyle/>
          <a:p>
            <a:pPr algn="l">
              <a:defRPr sz="2200" b="1">
                <a:solidFill>
                  <a:srgbClr val="0072CE"/>
                </a:solidFill>
                <a:latin typeface="Calibri"/>
              </a:defRPr>
            </a:pPr>
            <a:r>
              <a:t>Step 3:  Time discretisation (implicit Euler)</a:t>
            </a:r>
          </a:p>
        </p:txBody>
      </p:sp>
      <p:pic>
        <p:nvPicPr>
          <p:cNvPr id="11" name="Picture 10" descr="eq_9e0d99a96d14.png"/>
          <p:cNvPicPr>
            <a:picLocks noChangeAspect="1"/>
          </p:cNvPicPr>
          <p:nvPr/>
        </p:nvPicPr>
        <p:blipFill>
          <a:blip r:embed="rId4"/>
          <a:stretch>
            <a:fillRect/>
          </a:stretch>
        </p:blipFill>
        <p:spPr>
          <a:xfrm>
            <a:off x="3573627" y="4236720"/>
            <a:ext cx="5044440" cy="621792"/>
          </a:xfrm>
          <a:prstGeom prst="rect">
            <a:avLst/>
          </a:prstGeom>
        </p:spPr>
      </p:pic>
      <p:sp>
        <p:nvSpPr>
          <p:cNvPr id="12" name="TextBox 11"/>
          <p:cNvSpPr txBox="1"/>
          <p:nvPr/>
        </p:nvSpPr>
        <p:spPr>
          <a:xfrm>
            <a:off x="731520" y="4949952"/>
            <a:ext cx="10728655" cy="502920"/>
          </a:xfrm>
          <a:prstGeom prst="rect">
            <a:avLst/>
          </a:prstGeom>
          <a:noFill/>
        </p:spPr>
        <p:txBody>
          <a:bodyPr wrap="square">
            <a:spAutoFit/>
          </a:bodyPr>
          <a:lstStyle/>
          <a:p>
            <a:pPr algn="l">
              <a:defRPr sz="2200" b="1">
                <a:solidFill>
                  <a:srgbClr val="0072CE"/>
                </a:solidFill>
                <a:latin typeface="Calibri"/>
              </a:defRPr>
            </a:pPr>
            <a:r>
              <a:t>Step 4:  Residual equation + Newton iteration</a:t>
            </a:r>
          </a:p>
        </p:txBody>
      </p:sp>
      <p:pic>
        <p:nvPicPr>
          <p:cNvPr id="13" name="Picture 12" descr="eq_5a0d5533c208.png"/>
          <p:cNvPicPr>
            <a:picLocks noChangeAspect="1"/>
          </p:cNvPicPr>
          <p:nvPr/>
        </p:nvPicPr>
        <p:blipFill>
          <a:blip r:embed="rId5"/>
          <a:stretch>
            <a:fillRect/>
          </a:stretch>
        </p:blipFill>
        <p:spPr>
          <a:xfrm>
            <a:off x="3488283" y="5498592"/>
            <a:ext cx="5215128" cy="390144"/>
          </a:xfrm>
          <a:prstGeom prst="rect">
            <a:avLst/>
          </a:prstGeom>
        </p:spPr>
      </p:pic>
      <p:sp>
        <p:nvSpPr>
          <p:cNvPr id="14" name="TextBox 13"/>
          <p:cNvSpPr txBox="1"/>
          <p:nvPr/>
        </p:nvSpPr>
        <p:spPr>
          <a:xfrm>
            <a:off x="731520" y="6025896"/>
            <a:ext cx="10728655" cy="388620"/>
          </a:xfrm>
          <a:prstGeom prst="rect">
            <a:avLst/>
          </a:prstGeom>
          <a:noFill/>
        </p:spPr>
        <p:txBody>
          <a:bodyPr wrap="square">
            <a:spAutoFit/>
          </a:bodyPr>
          <a:lstStyle/>
          <a:p>
            <a:pPr algn="l">
              <a:defRPr sz="1700" b="0">
                <a:solidFill>
                  <a:srgbClr val="222222"/>
                </a:solidFill>
                <a:latin typeface="Calibri"/>
              </a:defRPr>
            </a:pPr>
            <a:r>
              <a:t>→  Paper eqs. (16)-(18) correspond to these 4 steps.</a:t>
            </a:r>
          </a:p>
        </p:txBody>
      </p:sp>
      <p:sp>
        <p:nvSpPr>
          <p:cNvPr id="15" name="TextBox 14"/>
          <p:cNvSpPr txBox="1"/>
          <p:nvPr/>
        </p:nvSpPr>
        <p:spPr>
          <a:xfrm>
            <a:off x="731520" y="6414516"/>
            <a:ext cx="10728655" cy="388620"/>
          </a:xfrm>
          <a:prstGeom prst="rect">
            <a:avLst/>
          </a:prstGeom>
          <a:noFill/>
        </p:spPr>
        <p:txBody>
          <a:bodyPr wrap="square">
            <a:spAutoFit/>
          </a:bodyPr>
          <a:lstStyle/>
          <a:p>
            <a:pPr algn="l">
              <a:defRPr sz="1700" b="0">
                <a:solidFill>
                  <a:srgbClr val="222222"/>
                </a:solidFill>
                <a:latin typeface="Calibri"/>
              </a:defRPr>
            </a:pPr>
            <a:r>
              <a:t>→  The Q in Step 4 is the colour-coded equation from the earlier slide.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